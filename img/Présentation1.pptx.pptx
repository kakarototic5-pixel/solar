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Arimo" panose="020B0604020202020204" charset="0"/>
      <p:regular r:id="rId15"/>
    </p:embeddedFont>
    <p:embeddedFont>
      <p:font typeface="Arimo Bold" panose="020B0604020202020204" charset="0"/>
      <p:regular r:id="rId16"/>
    </p:embeddedFont>
    <p:embeddedFont>
      <p:font typeface="Baskerville Old Face" panose="02020602080505020303" pitchFamily="18" charset="0"/>
      <p:regular r:id="rId17"/>
    </p:embeddedFont>
    <p:embeddedFont>
      <p:font typeface="Segoe Script" panose="030B0504020000000003" pitchFamily="66" charset="0"/>
      <p:regular r:id="rId18"/>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732" y="1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M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357602-8CCA-4186-B40C-C02FCD958187}" type="datetimeFigureOut">
              <a:rPr lang="fr-MA" smtClean="0"/>
              <a:t>13/04/2026</a:t>
            </a:fld>
            <a:endParaRPr lang="fr-M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M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M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A14F18-332B-451F-99CA-B4D097B4C0AA}" type="slidenum">
              <a:rPr lang="fr-MA" smtClean="0"/>
              <a:t>‹N°›</a:t>
            </a:fld>
            <a:endParaRPr lang="fr-MA"/>
          </a:p>
        </p:txBody>
      </p:sp>
    </p:spTree>
    <p:extLst>
      <p:ext uri="{BB962C8B-B14F-4D97-AF65-F5344CB8AC3E}">
        <p14:creationId xmlns:p14="http://schemas.microsoft.com/office/powerpoint/2010/main" val="3976675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MA" dirty="0"/>
          </a:p>
        </p:txBody>
      </p:sp>
      <p:sp>
        <p:nvSpPr>
          <p:cNvPr id="4" name="Espace réservé du numéro de diapositive 3"/>
          <p:cNvSpPr>
            <a:spLocks noGrp="1"/>
          </p:cNvSpPr>
          <p:nvPr>
            <p:ph type="sldNum" sz="quarter" idx="5"/>
          </p:nvPr>
        </p:nvSpPr>
        <p:spPr/>
        <p:txBody>
          <a:bodyPr/>
          <a:lstStyle/>
          <a:p>
            <a:fld id="{84A14F18-332B-451F-99CA-B4D097B4C0AA}" type="slidenum">
              <a:rPr lang="fr-MA" smtClean="0"/>
              <a:t>1</a:t>
            </a:fld>
            <a:endParaRPr lang="fr-MA"/>
          </a:p>
        </p:txBody>
      </p:sp>
    </p:spTree>
    <p:extLst>
      <p:ext uri="{BB962C8B-B14F-4D97-AF65-F5344CB8AC3E}">
        <p14:creationId xmlns:p14="http://schemas.microsoft.com/office/powerpoint/2010/main" val="133334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hyperlink" Target="https://science.nasa.gov/solar-system/" TargetMode="External"/><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hyperlink" Target="https://science.nasa.gov/mercury/"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hyperlink" Target="https://science.nasa.gov/venu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hyperlink" Target="https://eyes.nasa.gov/apps/earth/#/"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hyperlink" Target="https://science.nasa.gov/mars/"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7.xml"/><Relationship Id="rId4" Type="http://schemas.openxmlformats.org/officeDocument/2006/relationships/hyperlink" Target="https://science.nasa.gov/jupiter/"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7.xml"/><Relationship Id="rId4" Type="http://schemas.openxmlformats.org/officeDocument/2006/relationships/hyperlink" Target="https://science.nasa.gov/neptune/"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127.0.0.1:5500" TargetMode="Externa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hyperlink" Target="http://127.0.0.1:5500/index.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76802" y="762133"/>
            <a:ext cx="16729824" cy="223923"/>
            <a:chOff x="0" y="0"/>
            <a:chExt cx="22306432" cy="298564"/>
          </a:xfrm>
        </p:grpSpPr>
        <p:sp>
          <p:nvSpPr>
            <p:cNvPr id="3" name="Freeform 3"/>
            <p:cNvSpPr/>
            <p:nvPr/>
          </p:nvSpPr>
          <p:spPr>
            <a:xfrm>
              <a:off x="0" y="0"/>
              <a:ext cx="22306407" cy="298577"/>
            </a:xfrm>
            <a:custGeom>
              <a:avLst/>
              <a:gdLst/>
              <a:ahLst/>
              <a:cxnLst/>
              <a:rect l="l" t="t" r="r" b="b"/>
              <a:pathLst>
                <a:path w="22306407" h="298577">
                  <a:moveTo>
                    <a:pt x="0" y="0"/>
                  </a:moveTo>
                  <a:lnTo>
                    <a:pt x="22306407" y="0"/>
                  </a:lnTo>
                  <a:lnTo>
                    <a:pt x="22306407" y="298577"/>
                  </a:lnTo>
                  <a:lnTo>
                    <a:pt x="0" y="298577"/>
                  </a:lnTo>
                  <a:close/>
                </a:path>
              </a:pathLst>
            </a:custGeom>
            <a:solidFill>
              <a:srgbClr val="000000"/>
            </a:solidFill>
          </p:spPr>
          <p:txBody>
            <a:bodyPr/>
            <a:lstStyle/>
            <a:p>
              <a:endParaRPr lang="fr-MA"/>
            </a:p>
          </p:txBody>
        </p:sp>
      </p:grpSp>
      <p:grpSp>
        <p:nvGrpSpPr>
          <p:cNvPr id="4" name="Group 4"/>
          <p:cNvGrpSpPr/>
          <p:nvPr/>
        </p:nvGrpSpPr>
        <p:grpSpPr>
          <a:xfrm>
            <a:off x="776802" y="9314888"/>
            <a:ext cx="16733520" cy="68580"/>
            <a:chOff x="0" y="0"/>
            <a:chExt cx="22311360" cy="91440"/>
          </a:xfrm>
        </p:grpSpPr>
        <p:sp>
          <p:nvSpPr>
            <p:cNvPr id="5" name="Freeform 5"/>
            <p:cNvSpPr/>
            <p:nvPr/>
          </p:nvSpPr>
          <p:spPr>
            <a:xfrm>
              <a:off x="0" y="0"/>
              <a:ext cx="22311361" cy="91440"/>
            </a:xfrm>
            <a:custGeom>
              <a:avLst/>
              <a:gdLst/>
              <a:ahLst/>
              <a:cxnLst/>
              <a:rect l="l" t="t" r="r" b="b"/>
              <a:pathLst>
                <a:path w="22311361" h="91440">
                  <a:moveTo>
                    <a:pt x="0" y="0"/>
                  </a:moveTo>
                  <a:lnTo>
                    <a:pt x="9457563" y="0"/>
                  </a:lnTo>
                  <a:lnTo>
                    <a:pt x="12853670" y="0"/>
                  </a:lnTo>
                  <a:lnTo>
                    <a:pt x="22311361" y="0"/>
                  </a:lnTo>
                  <a:lnTo>
                    <a:pt x="22311361" y="91440"/>
                  </a:lnTo>
                  <a:lnTo>
                    <a:pt x="12853797" y="91440"/>
                  </a:lnTo>
                  <a:lnTo>
                    <a:pt x="9457563" y="91440"/>
                  </a:lnTo>
                  <a:lnTo>
                    <a:pt x="0" y="91440"/>
                  </a:lnTo>
                  <a:close/>
                </a:path>
              </a:pathLst>
            </a:custGeom>
            <a:solidFill>
              <a:srgbClr val="000000"/>
            </a:solidFill>
          </p:spPr>
          <p:txBody>
            <a:bodyPr/>
            <a:lstStyle/>
            <a:p>
              <a:endParaRPr lang="fr-MA"/>
            </a:p>
          </p:txBody>
        </p:sp>
      </p:grpSp>
      <p:grpSp>
        <p:nvGrpSpPr>
          <p:cNvPr id="6" name="Group 6"/>
          <p:cNvGrpSpPr/>
          <p:nvPr/>
        </p:nvGrpSpPr>
        <p:grpSpPr>
          <a:xfrm>
            <a:off x="4601" y="-19050"/>
            <a:ext cx="18283399" cy="10286981"/>
            <a:chOff x="0" y="0"/>
            <a:chExt cx="24377866" cy="13715975"/>
          </a:xfrm>
        </p:grpSpPr>
        <p:sp>
          <p:nvSpPr>
            <p:cNvPr id="7" name="Freeform 7"/>
            <p:cNvSpPr/>
            <p:nvPr/>
          </p:nvSpPr>
          <p:spPr>
            <a:xfrm>
              <a:off x="0" y="0"/>
              <a:ext cx="24377904" cy="13716000"/>
            </a:xfrm>
            <a:custGeom>
              <a:avLst/>
              <a:gdLst/>
              <a:ahLst/>
              <a:cxnLst/>
              <a:rect l="l" t="t" r="r" b="b"/>
              <a:pathLst>
                <a:path w="24377904" h="13716000">
                  <a:moveTo>
                    <a:pt x="0" y="0"/>
                  </a:moveTo>
                  <a:lnTo>
                    <a:pt x="24377904" y="0"/>
                  </a:lnTo>
                  <a:lnTo>
                    <a:pt x="24377904" y="13716000"/>
                  </a:lnTo>
                  <a:lnTo>
                    <a:pt x="0" y="13716000"/>
                  </a:lnTo>
                  <a:lnTo>
                    <a:pt x="0" y="0"/>
                  </a:lnTo>
                  <a:close/>
                </a:path>
              </a:pathLst>
            </a:custGeom>
            <a:blipFill>
              <a:blip r:embed="rId3"/>
              <a:stretch>
                <a:fillRect t="-21435" r="1" b="-45336"/>
              </a:stretch>
            </a:blipFill>
          </p:spPr>
          <p:txBody>
            <a:bodyPr/>
            <a:lstStyle/>
            <a:p>
              <a:endParaRPr lang="fr-MA"/>
            </a:p>
          </p:txBody>
        </p:sp>
      </p:grpSp>
      <p:grpSp>
        <p:nvGrpSpPr>
          <p:cNvPr id="8" name="Group 8"/>
          <p:cNvGrpSpPr/>
          <p:nvPr/>
        </p:nvGrpSpPr>
        <p:grpSpPr>
          <a:xfrm>
            <a:off x="776802" y="9300943"/>
            <a:ext cx="7531770" cy="223923"/>
            <a:chOff x="0" y="0"/>
            <a:chExt cx="10042360" cy="298564"/>
          </a:xfrm>
        </p:grpSpPr>
        <p:sp>
          <p:nvSpPr>
            <p:cNvPr id="9" name="Freeform 9"/>
            <p:cNvSpPr/>
            <p:nvPr/>
          </p:nvSpPr>
          <p:spPr>
            <a:xfrm>
              <a:off x="0" y="0"/>
              <a:ext cx="10042398" cy="298577"/>
            </a:xfrm>
            <a:custGeom>
              <a:avLst/>
              <a:gdLst/>
              <a:ahLst/>
              <a:cxnLst/>
              <a:rect l="l" t="t" r="r" b="b"/>
              <a:pathLst>
                <a:path w="10042398" h="298577">
                  <a:moveTo>
                    <a:pt x="0" y="0"/>
                  </a:moveTo>
                  <a:lnTo>
                    <a:pt x="10042398" y="0"/>
                  </a:lnTo>
                  <a:lnTo>
                    <a:pt x="10042398" y="298577"/>
                  </a:lnTo>
                  <a:lnTo>
                    <a:pt x="0" y="298577"/>
                  </a:lnTo>
                  <a:close/>
                </a:path>
              </a:pathLst>
            </a:custGeom>
            <a:solidFill>
              <a:srgbClr val="FFFFFF"/>
            </a:solidFill>
          </p:spPr>
          <p:txBody>
            <a:bodyPr/>
            <a:lstStyle/>
            <a:p>
              <a:endParaRPr lang="fr-MA"/>
            </a:p>
          </p:txBody>
        </p:sp>
      </p:grpSp>
      <p:sp>
        <p:nvSpPr>
          <p:cNvPr id="10" name="TextBox 10"/>
          <p:cNvSpPr txBox="1"/>
          <p:nvPr/>
        </p:nvSpPr>
        <p:spPr>
          <a:xfrm>
            <a:off x="264557" y="4827270"/>
            <a:ext cx="16995410" cy="4501232"/>
          </a:xfrm>
          <a:prstGeom prst="rect">
            <a:avLst/>
          </a:prstGeom>
        </p:spPr>
        <p:txBody>
          <a:bodyPr lIns="0" tIns="0" rIns="0" bIns="0" rtlCol="0" anchor="t">
            <a:spAutoFit/>
          </a:bodyPr>
          <a:lstStyle/>
          <a:p>
            <a:pPr algn="l">
              <a:lnSpc>
                <a:spcPts val="7200"/>
              </a:lnSpc>
            </a:pPr>
            <a:r>
              <a:rPr lang="en-US" sz="4000" b="1" dirty="0" err="1">
                <a:solidFill>
                  <a:srgbClr val="FFFFFF"/>
                </a:solidFill>
                <a:latin typeface="Baskerville Old Face" panose="02020602080505020303" pitchFamily="18" charset="0"/>
                <a:ea typeface="Segoe Script Bold"/>
                <a:cs typeface="Segoe Script Bold"/>
                <a:sym typeface="Segoe Script Bold"/>
              </a:rPr>
              <a:t>Définition</a:t>
            </a:r>
            <a:r>
              <a:rPr lang="en-US" sz="4000" b="1" dirty="0">
                <a:solidFill>
                  <a:srgbClr val="FFFFFF"/>
                </a:solidFill>
                <a:latin typeface="Baskerville Old Face" panose="02020602080505020303" pitchFamily="18" charset="0"/>
                <a:ea typeface="Segoe Script Bold"/>
                <a:cs typeface="Segoe Script Bold"/>
                <a:sym typeface="Segoe Script Bold"/>
              </a:rPr>
              <a:t> de </a:t>
            </a:r>
            <a:r>
              <a:rPr lang="en-US" sz="4000" b="1" dirty="0" err="1">
                <a:solidFill>
                  <a:srgbClr val="FFFFFF"/>
                </a:solidFill>
                <a:latin typeface="Baskerville Old Face" panose="02020602080505020303" pitchFamily="18" charset="0"/>
                <a:ea typeface="Segoe Script Bold"/>
                <a:cs typeface="Segoe Script Bold"/>
                <a:sym typeface="Segoe Script Bold"/>
              </a:rPr>
              <a:t>l’Univers</a:t>
            </a:r>
            <a:endParaRPr lang="en-US" sz="4000" b="1" dirty="0">
              <a:solidFill>
                <a:srgbClr val="FFFFFF"/>
              </a:solidFill>
              <a:latin typeface="Baskerville Old Face" panose="02020602080505020303" pitchFamily="18" charset="0"/>
              <a:ea typeface="Segoe Script Bold"/>
              <a:cs typeface="Segoe Script Bold"/>
              <a:sym typeface="Segoe Script Bold"/>
            </a:endParaRPr>
          </a:p>
          <a:p>
            <a:pPr algn="l">
              <a:lnSpc>
                <a:spcPts val="7200"/>
              </a:lnSpc>
            </a:pPr>
            <a:r>
              <a:rPr lang="en-US" sz="4000" b="1" dirty="0" err="1">
                <a:solidFill>
                  <a:srgbClr val="FFFFFF"/>
                </a:solidFill>
                <a:latin typeface="Baskerville Old Face" panose="02020602080505020303" pitchFamily="18" charset="0"/>
                <a:ea typeface="Segoe Script Bold"/>
                <a:cs typeface="Segoe Script Bold"/>
                <a:sym typeface="Segoe Script Bold"/>
              </a:rPr>
              <a:t>L’Univers</a:t>
            </a:r>
            <a:r>
              <a:rPr lang="en-US" sz="4000" dirty="0">
                <a:solidFill>
                  <a:srgbClr val="FFFFFF"/>
                </a:solidFill>
                <a:latin typeface="Baskerville Old Face" panose="02020602080505020303" pitchFamily="18" charset="0"/>
                <a:ea typeface="Segoe Script"/>
                <a:cs typeface="Segoe Script"/>
                <a:sym typeface="Segoe Script"/>
              </a:rPr>
              <a:t> est </a:t>
            </a:r>
            <a:r>
              <a:rPr lang="en-US" sz="4000" dirty="0" err="1">
                <a:solidFill>
                  <a:srgbClr val="FFFFFF"/>
                </a:solidFill>
                <a:latin typeface="Baskerville Old Face" panose="02020602080505020303" pitchFamily="18" charset="0"/>
                <a:ea typeface="Segoe Script"/>
                <a:cs typeface="Segoe Script"/>
                <a:sym typeface="Segoe Script"/>
              </a:rPr>
              <a:t>l’ensemble</a:t>
            </a:r>
            <a:r>
              <a:rPr lang="en-US" sz="4000" dirty="0">
                <a:solidFill>
                  <a:srgbClr val="FFFFFF"/>
                </a:solidFill>
                <a:latin typeface="Baskerville Old Face" panose="02020602080505020303" pitchFamily="18" charset="0"/>
                <a:ea typeface="Segoe Script"/>
                <a:cs typeface="Segoe Script"/>
                <a:sym typeface="Segoe Script"/>
              </a:rPr>
              <a:t> de tout </a:t>
            </a:r>
            <a:r>
              <a:rPr lang="en-US" sz="4000" dirty="0" err="1">
                <a:solidFill>
                  <a:srgbClr val="FFFFFF"/>
                </a:solidFill>
                <a:latin typeface="Baskerville Old Face" panose="02020602080505020303" pitchFamily="18" charset="0"/>
                <a:ea typeface="Segoe Script"/>
                <a:cs typeface="Segoe Script"/>
                <a:sym typeface="Segoe Script"/>
              </a:rPr>
              <a:t>ce</a:t>
            </a:r>
            <a:r>
              <a:rPr lang="en-US" sz="4000" dirty="0">
                <a:solidFill>
                  <a:srgbClr val="FFFFFF"/>
                </a:solidFill>
                <a:latin typeface="Baskerville Old Face" panose="02020602080505020303" pitchFamily="18" charset="0"/>
                <a:ea typeface="Segoe Script"/>
                <a:cs typeface="Segoe Script"/>
                <a:sym typeface="Segoe Script"/>
              </a:rPr>
              <a:t> qui </a:t>
            </a:r>
            <a:r>
              <a:rPr lang="en-US" sz="4000" dirty="0" err="1">
                <a:solidFill>
                  <a:srgbClr val="FFFFFF"/>
                </a:solidFill>
                <a:latin typeface="Baskerville Old Face" panose="02020602080505020303" pitchFamily="18" charset="0"/>
                <a:ea typeface="Segoe Script"/>
                <a:cs typeface="Segoe Script"/>
                <a:sym typeface="Segoe Script"/>
              </a:rPr>
              <a:t>existe</a:t>
            </a:r>
            <a:r>
              <a:rPr lang="en-US" sz="4000" dirty="0">
                <a:solidFill>
                  <a:srgbClr val="FFFFFF"/>
                </a:solidFill>
                <a:latin typeface="Baskerville Old Face" panose="02020602080505020303" pitchFamily="18" charset="0"/>
                <a:ea typeface="Segoe Script"/>
                <a:cs typeface="Segoe Script"/>
                <a:sym typeface="Segoe Script"/>
              </a:rPr>
              <a:t> : </a:t>
            </a:r>
            <a:r>
              <a:rPr lang="en-US" sz="4000" dirty="0" err="1">
                <a:solidFill>
                  <a:srgbClr val="FFFFFF"/>
                </a:solidFill>
                <a:latin typeface="Baskerville Old Face" panose="02020602080505020303" pitchFamily="18" charset="0"/>
                <a:ea typeface="Segoe Script"/>
                <a:cs typeface="Segoe Script"/>
                <a:sym typeface="Segoe Script"/>
              </a:rPr>
              <a:t>l’espace</a:t>
            </a:r>
            <a:r>
              <a:rPr lang="en-US" sz="4000" dirty="0">
                <a:solidFill>
                  <a:srgbClr val="FFFFFF"/>
                </a:solidFill>
                <a:latin typeface="Baskerville Old Face" panose="02020602080505020303" pitchFamily="18" charset="0"/>
                <a:ea typeface="Segoe Script"/>
                <a:cs typeface="Segoe Script"/>
                <a:sym typeface="Segoe Script"/>
              </a:rPr>
              <a:t>, le temps, la matière et </a:t>
            </a:r>
            <a:r>
              <a:rPr lang="en-US" sz="4000" dirty="0" err="1">
                <a:solidFill>
                  <a:srgbClr val="FFFFFF"/>
                </a:solidFill>
                <a:latin typeface="Baskerville Old Face" panose="02020602080505020303" pitchFamily="18" charset="0"/>
                <a:ea typeface="Segoe Script"/>
                <a:cs typeface="Segoe Script"/>
                <a:sym typeface="Segoe Script"/>
              </a:rPr>
              <a:t>l’énergie</a:t>
            </a:r>
            <a:r>
              <a:rPr lang="en-US" sz="4000" dirty="0">
                <a:solidFill>
                  <a:srgbClr val="FFFFFF"/>
                </a:solidFill>
                <a:latin typeface="Baskerville Old Face" panose="02020602080505020303" pitchFamily="18" charset="0"/>
                <a:ea typeface="Segoe Script"/>
                <a:cs typeface="Segoe Script"/>
                <a:sym typeface="Segoe Script"/>
              </a:rPr>
              <a:t>. Il </a:t>
            </a:r>
            <a:r>
              <a:rPr lang="en-US" sz="4000" dirty="0" err="1">
                <a:solidFill>
                  <a:srgbClr val="FFFFFF"/>
                </a:solidFill>
                <a:latin typeface="Baskerville Old Face" panose="02020602080505020303" pitchFamily="18" charset="0"/>
                <a:ea typeface="Segoe Script"/>
                <a:cs typeface="Segoe Script"/>
                <a:sym typeface="Segoe Script"/>
              </a:rPr>
              <a:t>comprend</a:t>
            </a:r>
            <a:r>
              <a:rPr lang="en-US" sz="4000" dirty="0">
                <a:solidFill>
                  <a:srgbClr val="FFFFFF"/>
                </a:solidFill>
                <a:latin typeface="Baskerville Old Face" panose="02020602080505020303" pitchFamily="18" charset="0"/>
                <a:ea typeface="Segoe Script"/>
                <a:cs typeface="Segoe Script"/>
                <a:sym typeface="Segoe Script"/>
              </a:rPr>
              <a:t> </a:t>
            </a:r>
            <a:r>
              <a:rPr lang="en-US" sz="4000" dirty="0" err="1">
                <a:solidFill>
                  <a:srgbClr val="FFFFFF"/>
                </a:solidFill>
                <a:latin typeface="Baskerville Old Face" panose="02020602080505020303" pitchFamily="18" charset="0"/>
                <a:ea typeface="Segoe Script"/>
                <a:cs typeface="Segoe Script"/>
                <a:sym typeface="Segoe Script"/>
              </a:rPr>
              <a:t>toutes</a:t>
            </a:r>
            <a:r>
              <a:rPr lang="en-US" sz="4000" dirty="0">
                <a:solidFill>
                  <a:srgbClr val="FFFFFF"/>
                </a:solidFill>
                <a:latin typeface="Baskerville Old Face" panose="02020602080505020303" pitchFamily="18" charset="0"/>
                <a:ea typeface="Segoe Script"/>
                <a:cs typeface="Segoe Script"/>
                <a:sym typeface="Segoe Script"/>
              </a:rPr>
              <a:t> les galaxies, les étoiles, les </a:t>
            </a:r>
            <a:r>
              <a:rPr lang="en-US" sz="4000" dirty="0" err="1">
                <a:solidFill>
                  <a:srgbClr val="FFFFFF"/>
                </a:solidFill>
                <a:latin typeface="Baskerville Old Face" panose="02020602080505020303" pitchFamily="18" charset="0"/>
                <a:ea typeface="Segoe Script"/>
                <a:cs typeface="Segoe Script"/>
                <a:sym typeface="Segoe Script"/>
              </a:rPr>
              <a:t>planètes</a:t>
            </a:r>
            <a:r>
              <a:rPr lang="en-US" sz="4000" dirty="0">
                <a:solidFill>
                  <a:srgbClr val="FFFFFF"/>
                </a:solidFill>
                <a:latin typeface="Baskerville Old Face" panose="02020602080505020303" pitchFamily="18" charset="0"/>
                <a:ea typeface="Segoe Script"/>
                <a:cs typeface="Segoe Script"/>
                <a:sym typeface="Segoe Script"/>
              </a:rPr>
              <a:t>, les </a:t>
            </a:r>
            <a:r>
              <a:rPr lang="en-US" sz="4000" dirty="0" err="1">
                <a:solidFill>
                  <a:srgbClr val="FFFFFF"/>
                </a:solidFill>
                <a:latin typeface="Baskerville Old Face" panose="02020602080505020303" pitchFamily="18" charset="0"/>
                <a:ea typeface="Segoe Script"/>
                <a:cs typeface="Segoe Script"/>
                <a:sym typeface="Segoe Script"/>
              </a:rPr>
              <a:t>nébuleuses</a:t>
            </a:r>
            <a:r>
              <a:rPr lang="en-US" sz="4000" dirty="0">
                <a:solidFill>
                  <a:srgbClr val="FFFFFF"/>
                </a:solidFill>
                <a:latin typeface="Baskerville Old Face" panose="02020602080505020303" pitchFamily="18" charset="0"/>
                <a:ea typeface="Segoe Script"/>
                <a:cs typeface="Segoe Script"/>
                <a:sym typeface="Segoe Script"/>
              </a:rPr>
              <a:t> </a:t>
            </a:r>
            <a:r>
              <a:rPr lang="en-US" sz="4000" dirty="0" err="1">
                <a:solidFill>
                  <a:srgbClr val="FFFFFF"/>
                </a:solidFill>
                <a:latin typeface="Baskerville Old Face" panose="02020602080505020303" pitchFamily="18" charset="0"/>
                <a:ea typeface="Segoe Script"/>
                <a:cs typeface="Segoe Script"/>
                <a:sym typeface="Segoe Script"/>
              </a:rPr>
              <a:t>ainsi</a:t>
            </a:r>
            <a:r>
              <a:rPr lang="en-US" sz="4000" dirty="0">
                <a:solidFill>
                  <a:srgbClr val="FFFFFF"/>
                </a:solidFill>
                <a:latin typeface="Baskerville Old Face" panose="02020602080505020303" pitchFamily="18" charset="0"/>
                <a:ea typeface="Segoe Script"/>
                <a:cs typeface="Segoe Script"/>
                <a:sym typeface="Segoe Script"/>
              </a:rPr>
              <a:t> </a:t>
            </a:r>
            <a:r>
              <a:rPr lang="en-US" sz="4000" dirty="0" err="1">
                <a:solidFill>
                  <a:srgbClr val="FFFFFF"/>
                </a:solidFill>
                <a:latin typeface="Baskerville Old Face" panose="02020602080505020303" pitchFamily="18" charset="0"/>
                <a:ea typeface="Segoe Script"/>
                <a:cs typeface="Segoe Script"/>
                <a:sym typeface="Segoe Script"/>
              </a:rPr>
              <a:t>que</a:t>
            </a:r>
            <a:r>
              <a:rPr lang="en-US" sz="4000" dirty="0">
                <a:solidFill>
                  <a:srgbClr val="FFFFFF"/>
                </a:solidFill>
                <a:latin typeface="Baskerville Old Face" panose="02020602080505020303" pitchFamily="18" charset="0"/>
                <a:ea typeface="Segoe Script"/>
                <a:cs typeface="Segoe Script"/>
                <a:sym typeface="Segoe Script"/>
              </a:rPr>
              <a:t> les </a:t>
            </a:r>
            <a:r>
              <a:rPr lang="en-US" sz="4000" dirty="0" err="1">
                <a:solidFill>
                  <a:srgbClr val="FFFFFF"/>
                </a:solidFill>
                <a:latin typeface="Baskerville Old Face" panose="02020602080505020303" pitchFamily="18" charset="0"/>
                <a:ea typeface="Segoe Script"/>
                <a:cs typeface="Segoe Script"/>
                <a:sym typeface="Segoe Script"/>
              </a:rPr>
              <a:t>lois</a:t>
            </a:r>
            <a:r>
              <a:rPr lang="en-US" sz="4000" dirty="0">
                <a:solidFill>
                  <a:srgbClr val="FFFFFF"/>
                </a:solidFill>
                <a:latin typeface="Baskerville Old Face" panose="02020602080505020303" pitchFamily="18" charset="0"/>
                <a:ea typeface="Segoe Script"/>
                <a:cs typeface="Segoe Script"/>
                <a:sym typeface="Segoe Script"/>
              </a:rPr>
              <a:t> physiques qui </a:t>
            </a:r>
            <a:r>
              <a:rPr lang="en-US" sz="4000" dirty="0" err="1">
                <a:solidFill>
                  <a:srgbClr val="FFFFFF"/>
                </a:solidFill>
                <a:latin typeface="Baskerville Old Face" panose="02020602080505020303" pitchFamily="18" charset="0"/>
                <a:ea typeface="Segoe Script"/>
                <a:cs typeface="Segoe Script"/>
                <a:sym typeface="Segoe Script"/>
              </a:rPr>
              <a:t>régissent</a:t>
            </a:r>
            <a:r>
              <a:rPr lang="en-US" sz="4000" dirty="0">
                <a:solidFill>
                  <a:srgbClr val="FFFFFF"/>
                </a:solidFill>
                <a:latin typeface="Baskerville Old Face" panose="02020602080505020303" pitchFamily="18" charset="0"/>
                <a:ea typeface="Segoe Script"/>
                <a:cs typeface="Segoe Script"/>
                <a:sym typeface="Segoe Script"/>
              </a:rPr>
              <a:t> </a:t>
            </a:r>
            <a:r>
              <a:rPr lang="en-US" sz="4000" dirty="0" err="1">
                <a:solidFill>
                  <a:srgbClr val="FFFFFF"/>
                </a:solidFill>
                <a:latin typeface="Baskerville Old Face" panose="02020602080505020303" pitchFamily="18" charset="0"/>
                <a:ea typeface="Segoe Script"/>
                <a:cs typeface="Segoe Script"/>
                <a:sym typeface="Segoe Script"/>
              </a:rPr>
              <a:t>leur</a:t>
            </a:r>
            <a:r>
              <a:rPr lang="en-US" sz="4000" dirty="0">
                <a:solidFill>
                  <a:srgbClr val="FFFFFF"/>
                </a:solidFill>
                <a:latin typeface="Baskerville Old Face" panose="02020602080505020303" pitchFamily="18" charset="0"/>
                <a:ea typeface="Segoe Script"/>
                <a:cs typeface="Segoe Script"/>
                <a:sym typeface="Segoe Script"/>
              </a:rPr>
              <a:t> </a:t>
            </a:r>
            <a:r>
              <a:rPr lang="en-US" sz="4000" dirty="0" err="1">
                <a:solidFill>
                  <a:srgbClr val="FFFFFF"/>
                </a:solidFill>
                <a:latin typeface="Baskerville Old Face" panose="02020602080505020303" pitchFamily="18" charset="0"/>
                <a:ea typeface="Segoe Script"/>
                <a:cs typeface="Segoe Script"/>
                <a:sym typeface="Segoe Script"/>
              </a:rPr>
              <a:t>fonctionnement</a:t>
            </a:r>
            <a:r>
              <a:rPr lang="en-US" sz="4000" dirty="0">
                <a:solidFill>
                  <a:srgbClr val="FFFFFF"/>
                </a:solidFill>
                <a:latin typeface="Baskerville Old Face" panose="02020602080505020303" pitchFamily="18" charset="0"/>
                <a:ea typeface="Segoe Script"/>
                <a:cs typeface="Segoe Script"/>
                <a:sym typeface="Segoe Script"/>
              </a:rPr>
              <a:t>.</a:t>
            </a:r>
          </a:p>
          <a:p>
            <a:pPr algn="l">
              <a:lnSpc>
                <a:spcPts val="7200"/>
              </a:lnSpc>
            </a:pPr>
            <a:endParaRPr lang="en-US" sz="3000" dirty="0">
              <a:solidFill>
                <a:srgbClr val="FFFFFF"/>
              </a:solidFill>
              <a:latin typeface="Segoe Script"/>
              <a:ea typeface="Segoe Script"/>
              <a:cs typeface="Segoe Script"/>
              <a:sym typeface="Segoe Script"/>
            </a:endParaRPr>
          </a:p>
        </p:txBody>
      </p:sp>
      <p:grpSp>
        <p:nvGrpSpPr>
          <p:cNvPr id="11" name="Group 11"/>
          <p:cNvGrpSpPr/>
          <p:nvPr/>
        </p:nvGrpSpPr>
        <p:grpSpPr>
          <a:xfrm>
            <a:off x="2903887" y="648129"/>
            <a:ext cx="6485401" cy="4410075"/>
            <a:chOff x="0" y="0"/>
            <a:chExt cx="8647201" cy="5880100"/>
          </a:xfrm>
        </p:grpSpPr>
        <p:sp>
          <p:nvSpPr>
            <p:cNvPr id="12" name="Freeform 12"/>
            <p:cNvSpPr/>
            <p:nvPr/>
          </p:nvSpPr>
          <p:spPr>
            <a:xfrm>
              <a:off x="0" y="0"/>
              <a:ext cx="8647176" cy="5880100"/>
            </a:xfrm>
            <a:custGeom>
              <a:avLst/>
              <a:gdLst/>
              <a:ahLst/>
              <a:cxnLst/>
              <a:rect l="l" t="t" r="r" b="b"/>
              <a:pathLst>
                <a:path w="8647176" h="5880100">
                  <a:moveTo>
                    <a:pt x="0" y="0"/>
                  </a:moveTo>
                  <a:lnTo>
                    <a:pt x="8647176" y="0"/>
                  </a:lnTo>
                  <a:lnTo>
                    <a:pt x="8647176" y="5880100"/>
                  </a:lnTo>
                  <a:lnTo>
                    <a:pt x="0" y="5880100"/>
                  </a:lnTo>
                  <a:lnTo>
                    <a:pt x="0" y="0"/>
                  </a:lnTo>
                  <a:close/>
                </a:path>
              </a:pathLst>
            </a:custGeom>
            <a:blipFill>
              <a:blip r:embed="rId4"/>
              <a:stretch>
                <a:fillRect t="-1546" r="-3093" b="-1546"/>
              </a:stretch>
            </a:blipFill>
          </p:spPr>
          <p:txBody>
            <a:bodyPr/>
            <a:lstStyle/>
            <a:p>
              <a:endParaRPr lang="fr-MA"/>
            </a:p>
          </p:txBody>
        </p:sp>
      </p:grpSp>
      <p:grpSp>
        <p:nvGrpSpPr>
          <p:cNvPr id="13" name="Group 13"/>
          <p:cNvGrpSpPr/>
          <p:nvPr/>
        </p:nvGrpSpPr>
        <p:grpSpPr>
          <a:xfrm>
            <a:off x="6405467" y="1181881"/>
            <a:ext cx="6254410" cy="3959771"/>
            <a:chOff x="0" y="0"/>
            <a:chExt cx="8339214" cy="5279695"/>
          </a:xfrm>
        </p:grpSpPr>
        <p:sp>
          <p:nvSpPr>
            <p:cNvPr id="14" name="Freeform 14"/>
            <p:cNvSpPr/>
            <p:nvPr/>
          </p:nvSpPr>
          <p:spPr>
            <a:xfrm>
              <a:off x="0" y="0"/>
              <a:ext cx="8339201" cy="5279644"/>
            </a:xfrm>
            <a:custGeom>
              <a:avLst/>
              <a:gdLst/>
              <a:ahLst/>
              <a:cxnLst/>
              <a:rect l="l" t="t" r="r" b="b"/>
              <a:pathLst>
                <a:path w="8339201" h="5279644">
                  <a:moveTo>
                    <a:pt x="0" y="0"/>
                  </a:moveTo>
                  <a:lnTo>
                    <a:pt x="8339201" y="0"/>
                  </a:lnTo>
                  <a:lnTo>
                    <a:pt x="8339201" y="5279644"/>
                  </a:lnTo>
                  <a:lnTo>
                    <a:pt x="0" y="5279644"/>
                  </a:lnTo>
                  <a:lnTo>
                    <a:pt x="0" y="0"/>
                  </a:lnTo>
                  <a:close/>
                </a:path>
              </a:pathLst>
            </a:custGeom>
            <a:blipFill>
              <a:blip r:embed="rId5"/>
              <a:stretch>
                <a:fillRect t="-20550" b="-20551"/>
              </a:stretch>
            </a:blipFill>
          </p:spPr>
          <p:txBody>
            <a:bodyPr/>
            <a:lstStyle/>
            <a:p>
              <a:endParaRPr lang="fr-MA"/>
            </a:p>
          </p:txBody>
        </p:sp>
      </p:grpSp>
      <p:grpSp>
        <p:nvGrpSpPr>
          <p:cNvPr id="15" name="Group 15"/>
          <p:cNvGrpSpPr/>
          <p:nvPr/>
        </p:nvGrpSpPr>
        <p:grpSpPr>
          <a:xfrm>
            <a:off x="9403571" y="1531245"/>
            <a:ext cx="6512614" cy="3958961"/>
            <a:chOff x="0" y="0"/>
            <a:chExt cx="8683485" cy="5278615"/>
          </a:xfrm>
        </p:grpSpPr>
        <p:sp>
          <p:nvSpPr>
            <p:cNvPr id="16" name="Freeform 16"/>
            <p:cNvSpPr/>
            <p:nvPr/>
          </p:nvSpPr>
          <p:spPr>
            <a:xfrm>
              <a:off x="0" y="0"/>
              <a:ext cx="8683498" cy="5278628"/>
            </a:xfrm>
            <a:custGeom>
              <a:avLst/>
              <a:gdLst/>
              <a:ahLst/>
              <a:cxnLst/>
              <a:rect l="l" t="t" r="r" b="b"/>
              <a:pathLst>
                <a:path w="8683498" h="5278628">
                  <a:moveTo>
                    <a:pt x="0" y="0"/>
                  </a:moveTo>
                  <a:lnTo>
                    <a:pt x="8683498" y="0"/>
                  </a:lnTo>
                  <a:lnTo>
                    <a:pt x="8683498" y="5278628"/>
                  </a:lnTo>
                  <a:lnTo>
                    <a:pt x="0" y="5278628"/>
                  </a:lnTo>
                  <a:lnTo>
                    <a:pt x="0" y="0"/>
                  </a:lnTo>
                  <a:close/>
                </a:path>
              </a:pathLst>
            </a:custGeom>
            <a:blipFill>
              <a:blip r:embed="rId6"/>
              <a:stretch>
                <a:fillRect t="-32251" b="-32251"/>
              </a:stretch>
            </a:blipFill>
          </p:spPr>
          <p:txBody>
            <a:bodyPr/>
            <a:lstStyle/>
            <a:p>
              <a:endParaRPr lang="fr-MA"/>
            </a:p>
          </p:txBody>
        </p:sp>
      </p:grpSp>
    </p:spTree>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76802" y="762133"/>
            <a:ext cx="16729824" cy="223923"/>
            <a:chOff x="0" y="0"/>
            <a:chExt cx="22306432" cy="298564"/>
          </a:xfrm>
        </p:grpSpPr>
        <p:sp>
          <p:nvSpPr>
            <p:cNvPr id="3" name="Freeform 3"/>
            <p:cNvSpPr/>
            <p:nvPr/>
          </p:nvSpPr>
          <p:spPr>
            <a:xfrm>
              <a:off x="0" y="0"/>
              <a:ext cx="22306407" cy="298577"/>
            </a:xfrm>
            <a:custGeom>
              <a:avLst/>
              <a:gdLst/>
              <a:ahLst/>
              <a:cxnLst/>
              <a:rect l="l" t="t" r="r" b="b"/>
              <a:pathLst>
                <a:path w="22306407" h="298577">
                  <a:moveTo>
                    <a:pt x="0" y="0"/>
                  </a:moveTo>
                  <a:lnTo>
                    <a:pt x="22306407" y="0"/>
                  </a:lnTo>
                  <a:lnTo>
                    <a:pt x="22306407" y="298577"/>
                  </a:lnTo>
                  <a:lnTo>
                    <a:pt x="0" y="298577"/>
                  </a:lnTo>
                  <a:close/>
                </a:path>
              </a:pathLst>
            </a:custGeom>
            <a:solidFill>
              <a:srgbClr val="000000"/>
            </a:solidFill>
          </p:spPr>
          <p:txBody>
            <a:bodyPr/>
            <a:lstStyle/>
            <a:p>
              <a:endParaRPr lang="fr-MA"/>
            </a:p>
          </p:txBody>
        </p:sp>
      </p:grpSp>
      <p:grpSp>
        <p:nvGrpSpPr>
          <p:cNvPr id="4" name="Group 4"/>
          <p:cNvGrpSpPr/>
          <p:nvPr/>
        </p:nvGrpSpPr>
        <p:grpSpPr>
          <a:xfrm>
            <a:off x="29" y="19"/>
            <a:ext cx="18283399" cy="10286981"/>
            <a:chOff x="0" y="0"/>
            <a:chExt cx="24377866" cy="13715975"/>
          </a:xfrm>
        </p:grpSpPr>
        <p:sp>
          <p:nvSpPr>
            <p:cNvPr id="5" name="Freeform 5"/>
            <p:cNvSpPr/>
            <p:nvPr/>
          </p:nvSpPr>
          <p:spPr>
            <a:xfrm>
              <a:off x="0" y="0"/>
              <a:ext cx="24377904" cy="13716000"/>
            </a:xfrm>
            <a:custGeom>
              <a:avLst/>
              <a:gdLst/>
              <a:ahLst/>
              <a:cxnLst/>
              <a:rect l="l" t="t" r="r" b="b"/>
              <a:pathLst>
                <a:path w="24377904" h="13716000">
                  <a:moveTo>
                    <a:pt x="0" y="0"/>
                  </a:moveTo>
                  <a:lnTo>
                    <a:pt x="24377904" y="0"/>
                  </a:lnTo>
                  <a:lnTo>
                    <a:pt x="24377904" y="13716000"/>
                  </a:lnTo>
                  <a:lnTo>
                    <a:pt x="0" y="13716000"/>
                  </a:lnTo>
                  <a:lnTo>
                    <a:pt x="0" y="0"/>
                  </a:lnTo>
                  <a:close/>
                </a:path>
              </a:pathLst>
            </a:custGeom>
            <a:blipFill>
              <a:blip r:embed="rId2"/>
              <a:stretch>
                <a:fillRect l="-1580" r="-6099" b="-155"/>
              </a:stretch>
            </a:blipFill>
          </p:spPr>
          <p:txBody>
            <a:bodyPr/>
            <a:lstStyle/>
            <a:p>
              <a:endParaRPr lang="fr-MA"/>
            </a:p>
          </p:txBody>
        </p:sp>
      </p:grpSp>
      <p:grpSp>
        <p:nvGrpSpPr>
          <p:cNvPr id="6" name="Group 6"/>
          <p:cNvGrpSpPr/>
          <p:nvPr/>
        </p:nvGrpSpPr>
        <p:grpSpPr>
          <a:xfrm>
            <a:off x="776802" y="762133"/>
            <a:ext cx="13030200" cy="223923"/>
            <a:chOff x="0" y="0"/>
            <a:chExt cx="17373600" cy="298564"/>
          </a:xfrm>
        </p:grpSpPr>
        <p:sp>
          <p:nvSpPr>
            <p:cNvPr id="7" name="Freeform 7"/>
            <p:cNvSpPr/>
            <p:nvPr/>
          </p:nvSpPr>
          <p:spPr>
            <a:xfrm>
              <a:off x="0" y="0"/>
              <a:ext cx="17373600" cy="298577"/>
            </a:xfrm>
            <a:custGeom>
              <a:avLst/>
              <a:gdLst/>
              <a:ahLst/>
              <a:cxnLst/>
              <a:rect l="l" t="t" r="r" b="b"/>
              <a:pathLst>
                <a:path w="17373600" h="298577">
                  <a:moveTo>
                    <a:pt x="0" y="0"/>
                  </a:moveTo>
                  <a:lnTo>
                    <a:pt x="17373600" y="0"/>
                  </a:lnTo>
                  <a:lnTo>
                    <a:pt x="17373600" y="298577"/>
                  </a:lnTo>
                  <a:lnTo>
                    <a:pt x="0" y="298577"/>
                  </a:lnTo>
                  <a:close/>
                </a:path>
              </a:pathLst>
            </a:custGeom>
            <a:solidFill>
              <a:srgbClr val="FFFFFF"/>
            </a:solidFill>
          </p:spPr>
          <p:txBody>
            <a:bodyPr/>
            <a:lstStyle/>
            <a:p>
              <a:endParaRPr lang="fr-MA"/>
            </a:p>
          </p:txBody>
        </p:sp>
      </p:grpSp>
      <p:sp>
        <p:nvSpPr>
          <p:cNvPr id="8" name="TextBox 8"/>
          <p:cNvSpPr txBox="1"/>
          <p:nvPr/>
        </p:nvSpPr>
        <p:spPr>
          <a:xfrm>
            <a:off x="14925465" y="9763106"/>
            <a:ext cx="4732915" cy="379752"/>
          </a:xfrm>
          <a:prstGeom prst="rect">
            <a:avLst/>
          </a:prstGeom>
        </p:spPr>
        <p:txBody>
          <a:bodyPr lIns="0" tIns="0" rIns="0" bIns="0" rtlCol="0" anchor="t">
            <a:spAutoFit/>
          </a:bodyPr>
          <a:lstStyle/>
          <a:p>
            <a:pPr algn="l">
              <a:lnSpc>
                <a:spcPts val="2520"/>
              </a:lnSpc>
            </a:pPr>
            <a:r>
              <a:rPr lang="en-US" sz="2100" u="sng">
                <a:solidFill>
                  <a:srgbClr val="83F6FF"/>
                </a:solidFill>
                <a:latin typeface="Arimo"/>
                <a:ea typeface="Arimo"/>
                <a:cs typeface="Arimo"/>
                <a:sym typeface="Arimo"/>
                <a:hlinkClick r:id="rId3" tooltip="https://science.nasa.gov/solar-system/"/>
              </a:rPr>
              <a:t>Solar System Exploration</a:t>
            </a:r>
          </a:p>
        </p:txBody>
      </p:sp>
      <p:sp>
        <p:nvSpPr>
          <p:cNvPr id="9" name="TextBox 9"/>
          <p:cNvSpPr txBox="1"/>
          <p:nvPr/>
        </p:nvSpPr>
        <p:spPr>
          <a:xfrm>
            <a:off x="1271654" y="8810215"/>
            <a:ext cx="16421595" cy="897103"/>
          </a:xfrm>
          <a:prstGeom prst="rect">
            <a:avLst/>
          </a:prstGeom>
        </p:spPr>
        <p:txBody>
          <a:bodyPr lIns="0" tIns="0" rIns="0" bIns="0" rtlCol="0" anchor="t">
            <a:spAutoFit/>
          </a:bodyPr>
          <a:lstStyle/>
          <a:p>
            <a:pPr algn="l">
              <a:lnSpc>
                <a:spcPts val="3240"/>
              </a:lnSpc>
            </a:pPr>
            <a:r>
              <a:rPr lang="en-US" sz="2700" b="1" dirty="0">
                <a:solidFill>
                  <a:srgbClr val="FFFFFF"/>
                </a:solidFill>
                <a:latin typeface="Arimo Bold"/>
                <a:ea typeface="Arimo Bold"/>
                <a:cs typeface="Arimo Bold"/>
                <a:sym typeface="Arimo Bold"/>
              </a:rPr>
              <a:t>Le Système </a:t>
            </a:r>
            <a:r>
              <a:rPr lang="en-US" sz="2700" b="1" dirty="0" err="1">
                <a:solidFill>
                  <a:srgbClr val="FFFFFF"/>
                </a:solidFill>
                <a:latin typeface="Arimo Bold"/>
                <a:ea typeface="Arimo Bold"/>
                <a:cs typeface="Arimo Bold"/>
                <a:sym typeface="Arimo Bold"/>
              </a:rPr>
              <a:t>solaire</a:t>
            </a:r>
            <a:r>
              <a:rPr lang="en-US" sz="2700" b="1" dirty="0">
                <a:solidFill>
                  <a:srgbClr val="FFFFFF"/>
                </a:solidFill>
                <a:latin typeface="Arimo Bold"/>
                <a:ea typeface="Arimo Bold"/>
                <a:cs typeface="Arimo Bold"/>
                <a:sym typeface="Arimo Bold"/>
              </a:rPr>
              <a:t> est un ensemble </a:t>
            </a:r>
            <a:r>
              <a:rPr lang="en-US" sz="2700" b="1" dirty="0" err="1">
                <a:solidFill>
                  <a:srgbClr val="FFFFFF"/>
                </a:solidFill>
                <a:latin typeface="Arimo Bold"/>
                <a:ea typeface="Arimo Bold"/>
                <a:cs typeface="Arimo Bold"/>
                <a:sym typeface="Arimo Bold"/>
              </a:rPr>
              <a:t>planétaire</a:t>
            </a:r>
            <a:r>
              <a:rPr lang="en-US" sz="2700" b="1" dirty="0">
                <a:solidFill>
                  <a:srgbClr val="FFFFFF"/>
                </a:solidFill>
                <a:latin typeface="Arimo Bold"/>
                <a:ea typeface="Arimo Bold"/>
                <a:cs typeface="Arimo Bold"/>
                <a:sym typeface="Arimo Bold"/>
              </a:rPr>
              <a:t> </a:t>
            </a:r>
            <a:r>
              <a:rPr lang="en-US" sz="2700" b="1" dirty="0" err="1">
                <a:solidFill>
                  <a:srgbClr val="FFFFFF"/>
                </a:solidFill>
                <a:latin typeface="Arimo Bold"/>
                <a:ea typeface="Arimo Bold"/>
                <a:cs typeface="Arimo Bold"/>
                <a:sym typeface="Arimo Bold"/>
              </a:rPr>
              <a:t>centré</a:t>
            </a:r>
            <a:r>
              <a:rPr lang="en-US" sz="2700" b="1" dirty="0">
                <a:solidFill>
                  <a:srgbClr val="FFFFFF"/>
                </a:solidFill>
                <a:latin typeface="Arimo Bold"/>
                <a:ea typeface="Arimo Bold"/>
                <a:cs typeface="Arimo Bold"/>
                <a:sym typeface="Arimo Bold"/>
              </a:rPr>
              <a:t> sur le Soleil, </a:t>
            </a:r>
            <a:r>
              <a:rPr lang="en-US" sz="2700" b="1" dirty="0" err="1">
                <a:solidFill>
                  <a:srgbClr val="FFFFFF"/>
                </a:solidFill>
                <a:latin typeface="Arimo Bold"/>
                <a:ea typeface="Arimo Bold"/>
                <a:cs typeface="Arimo Bold"/>
                <a:sym typeface="Arimo Bold"/>
              </a:rPr>
              <a:t>comprenant</a:t>
            </a:r>
            <a:r>
              <a:rPr lang="en-US" sz="2700" b="1" dirty="0">
                <a:solidFill>
                  <a:srgbClr val="FFFFFF"/>
                </a:solidFill>
                <a:latin typeface="Arimo Bold"/>
                <a:ea typeface="Arimo Bold"/>
                <a:cs typeface="Arimo Bold"/>
                <a:sym typeface="Arimo Bold"/>
              </a:rPr>
              <a:t> </a:t>
            </a:r>
            <a:r>
              <a:rPr lang="en-US" sz="2700" b="1" dirty="0" err="1">
                <a:solidFill>
                  <a:srgbClr val="FFFFFF"/>
                </a:solidFill>
                <a:latin typeface="Arimo Bold"/>
                <a:ea typeface="Arimo Bold"/>
                <a:cs typeface="Arimo Bold"/>
                <a:sym typeface="Arimo Bold"/>
              </a:rPr>
              <a:t>huit</a:t>
            </a:r>
            <a:r>
              <a:rPr lang="en-US" sz="2700" b="1" dirty="0">
                <a:solidFill>
                  <a:srgbClr val="FFFFFF"/>
                </a:solidFill>
                <a:latin typeface="Arimo Bold"/>
                <a:ea typeface="Arimo Bold"/>
                <a:cs typeface="Arimo Bold"/>
                <a:sym typeface="Arimo Bold"/>
              </a:rPr>
              <a:t> </a:t>
            </a:r>
            <a:r>
              <a:rPr lang="en-US" sz="2700" b="1" dirty="0" err="1">
                <a:solidFill>
                  <a:srgbClr val="FFFFFF"/>
                </a:solidFill>
                <a:latin typeface="Arimo Bold"/>
                <a:ea typeface="Arimo Bold"/>
                <a:cs typeface="Arimo Bold"/>
                <a:sym typeface="Arimo Bold"/>
              </a:rPr>
              <a:t>planètes</a:t>
            </a:r>
            <a:r>
              <a:rPr lang="en-US" sz="2700" b="1" dirty="0">
                <a:solidFill>
                  <a:srgbClr val="FFFFFF"/>
                </a:solidFill>
                <a:latin typeface="Arimo Bold"/>
                <a:ea typeface="Arimo Bold"/>
                <a:cs typeface="Arimo Bold"/>
                <a:sym typeface="Arimo Bold"/>
              </a:rPr>
              <a:t>, cinq </a:t>
            </a:r>
            <a:r>
              <a:rPr lang="en-US" sz="2700" b="1" dirty="0" err="1">
                <a:solidFill>
                  <a:srgbClr val="FFFFFF"/>
                </a:solidFill>
                <a:latin typeface="Arimo Bold"/>
                <a:ea typeface="Arimo Bold"/>
                <a:cs typeface="Arimo Bold"/>
                <a:sym typeface="Arimo Bold"/>
              </a:rPr>
              <a:t>planètes</a:t>
            </a:r>
            <a:r>
              <a:rPr lang="en-US" sz="2700" b="1" dirty="0">
                <a:solidFill>
                  <a:srgbClr val="FFFFFF"/>
                </a:solidFill>
                <a:latin typeface="Arimo Bold"/>
                <a:ea typeface="Arimo Bold"/>
                <a:cs typeface="Arimo Bold"/>
                <a:sym typeface="Arimo Bold"/>
              </a:rPr>
              <a:t> </a:t>
            </a:r>
            <a:r>
              <a:rPr lang="en-US" sz="2700" b="1" dirty="0" err="1">
                <a:solidFill>
                  <a:srgbClr val="FFFFFF"/>
                </a:solidFill>
                <a:latin typeface="Arimo Bold"/>
                <a:ea typeface="Arimo Bold"/>
                <a:cs typeface="Arimo Bold"/>
                <a:sym typeface="Arimo Bold"/>
              </a:rPr>
              <a:t>naines</a:t>
            </a:r>
            <a:r>
              <a:rPr lang="en-US" sz="2700" b="1" dirty="0">
                <a:solidFill>
                  <a:srgbClr val="FFFFFF"/>
                </a:solidFill>
                <a:latin typeface="Arimo Bold"/>
                <a:ea typeface="Arimo Bold"/>
                <a:cs typeface="Arimo Bold"/>
                <a:sym typeface="Arimo Bold"/>
              </a:rPr>
              <a:t>, des satellites et des milliards de petits corps </a:t>
            </a:r>
            <a:r>
              <a:rPr lang="en-US" sz="2700" b="1" dirty="0" err="1">
                <a:solidFill>
                  <a:srgbClr val="FFFFFF"/>
                </a:solidFill>
                <a:latin typeface="Arimo Bold"/>
                <a:ea typeface="Arimo Bold"/>
                <a:cs typeface="Arimo Bold"/>
                <a:sym typeface="Arimo Bold"/>
              </a:rPr>
              <a:t>célestes</a:t>
            </a:r>
            <a:r>
              <a:rPr lang="en-US" sz="2700" b="1" dirty="0">
                <a:solidFill>
                  <a:srgbClr val="FFFFFF"/>
                </a:solidFill>
                <a:latin typeface="Arimo Bold"/>
                <a:ea typeface="Arimo Bold"/>
                <a:cs typeface="Arimo Bold"/>
                <a:sym typeface="Arimo Bold"/>
              </a:rPr>
              <a:t>.</a:t>
            </a:r>
          </a:p>
        </p:txBody>
      </p:sp>
      <p:sp>
        <p:nvSpPr>
          <p:cNvPr id="10" name="TextBox 10"/>
          <p:cNvSpPr txBox="1"/>
          <p:nvPr/>
        </p:nvSpPr>
        <p:spPr>
          <a:xfrm>
            <a:off x="6618856" y="2597334"/>
            <a:ext cx="5045745" cy="804777"/>
          </a:xfrm>
          <a:prstGeom prst="rect">
            <a:avLst/>
          </a:prstGeom>
        </p:spPr>
        <p:txBody>
          <a:bodyPr lIns="0" tIns="0" rIns="0" bIns="0" rtlCol="0" anchor="t">
            <a:spAutoFit/>
          </a:bodyPr>
          <a:lstStyle/>
          <a:p>
            <a:pPr algn="l">
              <a:lnSpc>
                <a:spcPts val="5759"/>
              </a:lnSpc>
            </a:pPr>
            <a:r>
              <a:rPr lang="en-US" sz="4800">
                <a:solidFill>
                  <a:srgbClr val="FFFFFF"/>
                </a:solidFill>
                <a:latin typeface="Arimo"/>
                <a:ea typeface="Arimo"/>
                <a:cs typeface="Arimo"/>
                <a:sym typeface="Arimo"/>
              </a:rPr>
              <a:t>Le système solaire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76802" y="762133"/>
            <a:ext cx="16729824" cy="223923"/>
            <a:chOff x="0" y="0"/>
            <a:chExt cx="22306432" cy="298564"/>
          </a:xfrm>
        </p:grpSpPr>
        <p:sp>
          <p:nvSpPr>
            <p:cNvPr id="3" name="Freeform 3"/>
            <p:cNvSpPr/>
            <p:nvPr/>
          </p:nvSpPr>
          <p:spPr>
            <a:xfrm>
              <a:off x="0" y="0"/>
              <a:ext cx="22306407" cy="298577"/>
            </a:xfrm>
            <a:custGeom>
              <a:avLst/>
              <a:gdLst/>
              <a:ahLst/>
              <a:cxnLst/>
              <a:rect l="l" t="t" r="r" b="b"/>
              <a:pathLst>
                <a:path w="22306407" h="298577">
                  <a:moveTo>
                    <a:pt x="0" y="0"/>
                  </a:moveTo>
                  <a:lnTo>
                    <a:pt x="22306407" y="0"/>
                  </a:lnTo>
                  <a:lnTo>
                    <a:pt x="22306407" y="298577"/>
                  </a:lnTo>
                  <a:lnTo>
                    <a:pt x="0" y="298577"/>
                  </a:lnTo>
                  <a:close/>
                </a:path>
              </a:pathLst>
            </a:custGeom>
            <a:solidFill>
              <a:srgbClr val="000000"/>
            </a:solidFill>
          </p:spPr>
          <p:txBody>
            <a:bodyPr/>
            <a:lstStyle/>
            <a:p>
              <a:endParaRPr lang="fr-MA"/>
            </a:p>
          </p:txBody>
        </p:sp>
      </p:grpSp>
      <p:grpSp>
        <p:nvGrpSpPr>
          <p:cNvPr id="4" name="Group 4"/>
          <p:cNvGrpSpPr/>
          <p:nvPr/>
        </p:nvGrpSpPr>
        <p:grpSpPr>
          <a:xfrm>
            <a:off x="19079" y="19"/>
            <a:ext cx="18283399" cy="10286981"/>
            <a:chOff x="0" y="0"/>
            <a:chExt cx="24377866" cy="13715975"/>
          </a:xfrm>
        </p:grpSpPr>
        <p:sp>
          <p:nvSpPr>
            <p:cNvPr id="5" name="Freeform 5"/>
            <p:cNvSpPr/>
            <p:nvPr/>
          </p:nvSpPr>
          <p:spPr>
            <a:xfrm>
              <a:off x="0" y="0"/>
              <a:ext cx="24377904" cy="13716000"/>
            </a:xfrm>
            <a:custGeom>
              <a:avLst/>
              <a:gdLst/>
              <a:ahLst/>
              <a:cxnLst/>
              <a:rect l="l" t="t" r="r" b="b"/>
              <a:pathLst>
                <a:path w="24377904" h="13716000">
                  <a:moveTo>
                    <a:pt x="0" y="0"/>
                  </a:moveTo>
                  <a:lnTo>
                    <a:pt x="24377904" y="0"/>
                  </a:lnTo>
                  <a:lnTo>
                    <a:pt x="24377904" y="13716000"/>
                  </a:lnTo>
                  <a:lnTo>
                    <a:pt x="0" y="13716000"/>
                  </a:lnTo>
                  <a:lnTo>
                    <a:pt x="0" y="0"/>
                  </a:lnTo>
                  <a:close/>
                </a:path>
              </a:pathLst>
            </a:custGeom>
            <a:blipFill>
              <a:blip r:embed="rId2"/>
              <a:stretch>
                <a:fillRect l="-50797" r="-18415" b="-249"/>
              </a:stretch>
            </a:blipFill>
          </p:spPr>
          <p:txBody>
            <a:bodyPr/>
            <a:lstStyle/>
            <a:p>
              <a:endParaRPr lang="fr-MA"/>
            </a:p>
          </p:txBody>
        </p:sp>
      </p:grpSp>
      <p:grpSp>
        <p:nvGrpSpPr>
          <p:cNvPr id="6" name="Group 6"/>
          <p:cNvGrpSpPr/>
          <p:nvPr/>
        </p:nvGrpSpPr>
        <p:grpSpPr>
          <a:xfrm>
            <a:off x="776802" y="9300943"/>
            <a:ext cx="7531770" cy="223923"/>
            <a:chOff x="0" y="0"/>
            <a:chExt cx="10042360" cy="298564"/>
          </a:xfrm>
        </p:grpSpPr>
        <p:sp>
          <p:nvSpPr>
            <p:cNvPr id="7" name="Freeform 7"/>
            <p:cNvSpPr/>
            <p:nvPr/>
          </p:nvSpPr>
          <p:spPr>
            <a:xfrm>
              <a:off x="0" y="0"/>
              <a:ext cx="10042398" cy="298577"/>
            </a:xfrm>
            <a:custGeom>
              <a:avLst/>
              <a:gdLst/>
              <a:ahLst/>
              <a:cxnLst/>
              <a:rect l="l" t="t" r="r" b="b"/>
              <a:pathLst>
                <a:path w="10042398" h="298577">
                  <a:moveTo>
                    <a:pt x="0" y="0"/>
                  </a:moveTo>
                  <a:lnTo>
                    <a:pt x="10042398" y="0"/>
                  </a:lnTo>
                  <a:lnTo>
                    <a:pt x="10042398" y="298577"/>
                  </a:lnTo>
                  <a:lnTo>
                    <a:pt x="0" y="298577"/>
                  </a:lnTo>
                  <a:close/>
                </a:path>
              </a:pathLst>
            </a:custGeom>
            <a:solidFill>
              <a:srgbClr val="FFFFFF"/>
            </a:solidFill>
          </p:spPr>
          <p:txBody>
            <a:bodyPr/>
            <a:lstStyle/>
            <a:p>
              <a:endParaRPr lang="fr-MA"/>
            </a:p>
          </p:txBody>
        </p:sp>
      </p:grpSp>
      <p:pic>
        <p:nvPicPr>
          <p:cNvPr id="8" name="Picture 8"/>
          <p:cNvPicPr>
            <a:picLocks noChangeAspect="1"/>
          </p:cNvPicPr>
          <p:nvPr/>
        </p:nvPicPr>
        <p:blipFill>
          <a:blip r:embed="rId3"/>
          <a:stretch>
            <a:fillRect/>
          </a:stretch>
        </p:blipFill>
        <p:spPr>
          <a:xfrm>
            <a:off x="558466" y="3122444"/>
            <a:ext cx="2612293" cy="2620036"/>
          </a:xfrm>
          <a:prstGeom prst="rect">
            <a:avLst/>
          </a:prstGeom>
        </p:spPr>
      </p:pic>
      <p:sp>
        <p:nvSpPr>
          <p:cNvPr id="9" name="TextBox 9"/>
          <p:cNvSpPr txBox="1"/>
          <p:nvPr/>
        </p:nvSpPr>
        <p:spPr>
          <a:xfrm>
            <a:off x="7842447" y="513302"/>
            <a:ext cx="2439562" cy="804777"/>
          </a:xfrm>
          <a:prstGeom prst="rect">
            <a:avLst/>
          </a:prstGeom>
        </p:spPr>
        <p:txBody>
          <a:bodyPr lIns="0" tIns="0" rIns="0" bIns="0" rtlCol="0" anchor="t">
            <a:spAutoFit/>
          </a:bodyPr>
          <a:lstStyle/>
          <a:p>
            <a:pPr algn="l">
              <a:lnSpc>
                <a:spcPts val="5759"/>
              </a:lnSpc>
            </a:pPr>
            <a:r>
              <a:rPr lang="en-US" sz="4800">
                <a:solidFill>
                  <a:srgbClr val="FFFFFF"/>
                </a:solidFill>
                <a:latin typeface="Arimo"/>
                <a:ea typeface="Arimo"/>
                <a:cs typeface="Arimo"/>
                <a:sym typeface="Arimo"/>
              </a:rPr>
              <a:t>Mercure</a:t>
            </a:r>
          </a:p>
        </p:txBody>
      </p:sp>
      <p:sp>
        <p:nvSpPr>
          <p:cNvPr id="10" name="TextBox 10"/>
          <p:cNvSpPr txBox="1"/>
          <p:nvPr/>
        </p:nvSpPr>
        <p:spPr>
          <a:xfrm>
            <a:off x="736902" y="7873365"/>
            <a:ext cx="10971190" cy="897103"/>
          </a:xfrm>
          <a:prstGeom prst="rect">
            <a:avLst/>
          </a:prstGeom>
        </p:spPr>
        <p:txBody>
          <a:bodyPr lIns="0" tIns="0" rIns="0" bIns="0" rtlCol="0" anchor="t">
            <a:spAutoFit/>
          </a:bodyPr>
          <a:lstStyle/>
          <a:p>
            <a:pPr algn="l">
              <a:lnSpc>
                <a:spcPts val="3240"/>
              </a:lnSpc>
            </a:pPr>
            <a:r>
              <a:rPr lang="en-US" sz="2700" b="1" dirty="0">
                <a:solidFill>
                  <a:srgbClr val="FFFFFF"/>
                </a:solidFill>
                <a:latin typeface="Arimo Bold"/>
                <a:ea typeface="Arimo Bold"/>
                <a:cs typeface="Arimo Bold"/>
                <a:sym typeface="Arimo Bold"/>
              </a:rPr>
              <a:t>Mercure est la </a:t>
            </a:r>
            <a:r>
              <a:rPr lang="en-US" sz="2700" b="1" dirty="0" err="1">
                <a:solidFill>
                  <a:srgbClr val="FFFFFF"/>
                </a:solidFill>
                <a:latin typeface="Arimo Bold"/>
                <a:ea typeface="Arimo Bold"/>
                <a:cs typeface="Arimo Bold"/>
                <a:sym typeface="Arimo Bold"/>
              </a:rPr>
              <a:t>planète</a:t>
            </a:r>
            <a:r>
              <a:rPr lang="en-US" sz="2700" b="1" dirty="0">
                <a:solidFill>
                  <a:srgbClr val="FFFFFF"/>
                </a:solidFill>
                <a:latin typeface="Arimo Bold"/>
                <a:ea typeface="Arimo Bold"/>
                <a:cs typeface="Arimo Bold"/>
                <a:sym typeface="Arimo Bold"/>
              </a:rPr>
              <a:t> la plus </a:t>
            </a:r>
            <a:r>
              <a:rPr lang="en-US" sz="2700" b="1" dirty="0" err="1">
                <a:solidFill>
                  <a:srgbClr val="FFFFFF"/>
                </a:solidFill>
                <a:latin typeface="Arimo Bold"/>
                <a:ea typeface="Arimo Bold"/>
                <a:cs typeface="Arimo Bold"/>
                <a:sym typeface="Arimo Bold"/>
              </a:rPr>
              <a:t>proche</a:t>
            </a:r>
            <a:r>
              <a:rPr lang="en-US" sz="2700" b="1" dirty="0">
                <a:solidFill>
                  <a:srgbClr val="FFFFFF"/>
                </a:solidFill>
                <a:latin typeface="Arimo Bold"/>
                <a:ea typeface="Arimo Bold"/>
                <a:cs typeface="Arimo Bold"/>
                <a:sym typeface="Arimo Bold"/>
              </a:rPr>
              <a:t> du Soleil et la plus petite de </a:t>
            </a:r>
            <a:r>
              <a:rPr lang="en-US" sz="2700" b="1" dirty="0" err="1">
                <a:solidFill>
                  <a:srgbClr val="FFFFFF"/>
                </a:solidFill>
                <a:latin typeface="Arimo Bold"/>
                <a:ea typeface="Arimo Bold"/>
                <a:cs typeface="Arimo Bold"/>
                <a:sym typeface="Arimo Bold"/>
              </a:rPr>
              <a:t>notre</a:t>
            </a:r>
            <a:r>
              <a:rPr lang="en-US" sz="2700" b="1" dirty="0">
                <a:solidFill>
                  <a:srgbClr val="FFFFFF"/>
                </a:solidFill>
                <a:latin typeface="Arimo Bold"/>
                <a:ea typeface="Arimo Bold"/>
                <a:cs typeface="Arimo Bold"/>
                <a:sym typeface="Arimo Bold"/>
              </a:rPr>
              <a:t> </a:t>
            </a:r>
            <a:r>
              <a:rPr lang="en-US" sz="2700" b="1" dirty="0" err="1">
                <a:solidFill>
                  <a:srgbClr val="FFFFFF"/>
                </a:solidFill>
                <a:latin typeface="Arimo Bold"/>
                <a:ea typeface="Arimo Bold"/>
                <a:cs typeface="Arimo Bold"/>
                <a:sym typeface="Arimo Bold"/>
              </a:rPr>
              <a:t>système</a:t>
            </a:r>
            <a:r>
              <a:rPr lang="en-US" sz="2700" b="1" dirty="0">
                <a:solidFill>
                  <a:srgbClr val="FFFFFF"/>
                </a:solidFill>
                <a:latin typeface="Arimo Bold"/>
                <a:ea typeface="Arimo Bold"/>
                <a:cs typeface="Arimo Bold"/>
                <a:sym typeface="Arimo Bold"/>
              </a:rPr>
              <a:t> </a:t>
            </a:r>
            <a:r>
              <a:rPr lang="en-US" sz="2700" b="1" dirty="0" err="1">
                <a:solidFill>
                  <a:srgbClr val="FFFFFF"/>
                </a:solidFill>
                <a:latin typeface="Arimo Bold"/>
                <a:ea typeface="Arimo Bold"/>
                <a:cs typeface="Arimo Bold"/>
                <a:sym typeface="Arimo Bold"/>
              </a:rPr>
              <a:t>solaire</a:t>
            </a:r>
            <a:r>
              <a:rPr lang="en-US" sz="2700" b="1" dirty="0">
                <a:solidFill>
                  <a:srgbClr val="FFFFFF"/>
                </a:solidFill>
                <a:latin typeface="Arimo Bold"/>
                <a:ea typeface="Arimo Bold"/>
                <a:cs typeface="Arimo Bold"/>
                <a:sym typeface="Arimo Bold"/>
              </a:rPr>
              <a:t>. Elle est à </a:t>
            </a:r>
            <a:r>
              <a:rPr lang="en-US" sz="2700" b="1" dirty="0" err="1">
                <a:solidFill>
                  <a:srgbClr val="FFFFFF"/>
                </a:solidFill>
                <a:latin typeface="Arimo Bold"/>
                <a:ea typeface="Arimo Bold"/>
                <a:cs typeface="Arimo Bold"/>
                <a:sym typeface="Arimo Bold"/>
              </a:rPr>
              <a:t>peine</a:t>
            </a:r>
            <a:r>
              <a:rPr lang="en-US" sz="2700" b="1" dirty="0">
                <a:solidFill>
                  <a:srgbClr val="FFFFFF"/>
                </a:solidFill>
                <a:latin typeface="Arimo Bold"/>
                <a:ea typeface="Arimo Bold"/>
                <a:cs typeface="Arimo Bold"/>
                <a:sym typeface="Arimo Bold"/>
              </a:rPr>
              <a:t> plus grande </a:t>
            </a:r>
            <a:r>
              <a:rPr lang="en-US" sz="2700" b="1" dirty="0" err="1">
                <a:solidFill>
                  <a:srgbClr val="FFFFFF"/>
                </a:solidFill>
                <a:latin typeface="Arimo Bold"/>
                <a:ea typeface="Arimo Bold"/>
                <a:cs typeface="Arimo Bold"/>
                <a:sym typeface="Arimo Bold"/>
              </a:rPr>
              <a:t>que</a:t>
            </a:r>
            <a:r>
              <a:rPr lang="en-US" sz="2700" b="1" dirty="0">
                <a:solidFill>
                  <a:srgbClr val="FFFFFF"/>
                </a:solidFill>
                <a:latin typeface="Arimo Bold"/>
                <a:ea typeface="Arimo Bold"/>
                <a:cs typeface="Arimo Bold"/>
                <a:sym typeface="Arimo Bold"/>
              </a:rPr>
              <a:t> la Lune.</a:t>
            </a:r>
          </a:p>
        </p:txBody>
      </p:sp>
      <p:sp>
        <p:nvSpPr>
          <p:cNvPr id="11" name="TextBox 11"/>
          <p:cNvSpPr txBox="1"/>
          <p:nvPr/>
        </p:nvSpPr>
        <p:spPr>
          <a:xfrm>
            <a:off x="16758704" y="9664027"/>
            <a:ext cx="1504988" cy="379752"/>
          </a:xfrm>
          <a:prstGeom prst="rect">
            <a:avLst/>
          </a:prstGeom>
        </p:spPr>
        <p:txBody>
          <a:bodyPr lIns="0" tIns="0" rIns="0" bIns="0" rtlCol="0" anchor="t">
            <a:spAutoFit/>
          </a:bodyPr>
          <a:lstStyle/>
          <a:p>
            <a:pPr algn="l">
              <a:lnSpc>
                <a:spcPts val="2520"/>
              </a:lnSpc>
            </a:pPr>
            <a:r>
              <a:rPr lang="en-US" sz="2100" u="sng">
                <a:solidFill>
                  <a:srgbClr val="83F6FF"/>
                </a:solidFill>
                <a:latin typeface="Arimo"/>
                <a:ea typeface="Arimo"/>
                <a:cs typeface="Arimo"/>
                <a:sym typeface="Arimo"/>
                <a:hlinkClick r:id="rId4" tooltip="https://science.nasa.gov/mercury/"/>
              </a:rPr>
              <a:t>Mercury</a:t>
            </a:r>
          </a:p>
        </p:txBody>
      </p:sp>
      <p:sp>
        <p:nvSpPr>
          <p:cNvPr id="12" name="TextBox 12"/>
          <p:cNvSpPr txBox="1"/>
          <p:nvPr/>
        </p:nvSpPr>
        <p:spPr>
          <a:xfrm>
            <a:off x="12643991" y="1308554"/>
            <a:ext cx="4615309" cy="1266825"/>
          </a:xfrm>
          <a:prstGeom prst="rect">
            <a:avLst/>
          </a:prstGeom>
        </p:spPr>
        <p:txBody>
          <a:bodyPr lIns="0" tIns="0" rIns="0" bIns="0" rtlCol="0" anchor="t">
            <a:spAutoFit/>
          </a:bodyPr>
          <a:lstStyle/>
          <a:p>
            <a:pPr algn="ctr">
              <a:lnSpc>
                <a:spcPts val="2520"/>
              </a:lnSpc>
              <a:spcBef>
                <a:spcPct val="0"/>
              </a:spcBef>
            </a:pPr>
            <a:r>
              <a:rPr lang="en-US" sz="2100">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La planète la plus proche du Soleil</a:t>
            </a:r>
          </a:p>
          <a:p>
            <a:pPr algn="ctr">
              <a:lnSpc>
                <a:spcPts val="2520"/>
              </a:lnSpc>
              <a:spcBef>
                <a:spcPct val="0"/>
              </a:spcBef>
            </a:pPr>
            <a:r>
              <a:rPr lang="en-US" sz="2100">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Très petite</a:t>
            </a:r>
          </a:p>
          <a:p>
            <a:pPr algn="ctr">
              <a:lnSpc>
                <a:spcPts val="2520"/>
              </a:lnSpc>
              <a:spcBef>
                <a:spcPct val="0"/>
              </a:spcBef>
            </a:pPr>
            <a:r>
              <a:rPr lang="en-US" sz="2100">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Très chaude le jour et très froide la nuit</a:t>
            </a:r>
          </a:p>
          <a:p>
            <a:pPr algn="ctr">
              <a:lnSpc>
                <a:spcPts val="2520"/>
              </a:lnSpc>
              <a:spcBef>
                <a:spcPct val="0"/>
              </a:spcBef>
            </a:pPr>
            <a:r>
              <a:rPr lang="en-US" sz="2100">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Pas d’air ni d’eau</a:t>
            </a:r>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76802" y="762133"/>
            <a:ext cx="16729824" cy="223923"/>
            <a:chOff x="0" y="0"/>
            <a:chExt cx="22306432" cy="298564"/>
          </a:xfrm>
        </p:grpSpPr>
        <p:sp>
          <p:nvSpPr>
            <p:cNvPr id="3" name="Freeform 3"/>
            <p:cNvSpPr/>
            <p:nvPr/>
          </p:nvSpPr>
          <p:spPr>
            <a:xfrm>
              <a:off x="0" y="0"/>
              <a:ext cx="22306407" cy="298577"/>
            </a:xfrm>
            <a:custGeom>
              <a:avLst/>
              <a:gdLst/>
              <a:ahLst/>
              <a:cxnLst/>
              <a:rect l="l" t="t" r="r" b="b"/>
              <a:pathLst>
                <a:path w="22306407" h="298577">
                  <a:moveTo>
                    <a:pt x="0" y="0"/>
                  </a:moveTo>
                  <a:lnTo>
                    <a:pt x="22306407" y="0"/>
                  </a:lnTo>
                  <a:lnTo>
                    <a:pt x="22306407" y="298577"/>
                  </a:lnTo>
                  <a:lnTo>
                    <a:pt x="0" y="298577"/>
                  </a:lnTo>
                  <a:close/>
                </a:path>
              </a:pathLst>
            </a:custGeom>
            <a:solidFill>
              <a:srgbClr val="000000"/>
            </a:solidFill>
          </p:spPr>
          <p:txBody>
            <a:bodyPr/>
            <a:lstStyle/>
            <a:p>
              <a:endParaRPr lang="fr-MA"/>
            </a:p>
          </p:txBody>
        </p:sp>
      </p:grpSp>
      <p:grpSp>
        <p:nvGrpSpPr>
          <p:cNvPr id="4" name="Group 4"/>
          <p:cNvGrpSpPr/>
          <p:nvPr/>
        </p:nvGrpSpPr>
        <p:grpSpPr>
          <a:xfrm>
            <a:off x="29" y="19"/>
            <a:ext cx="18283399" cy="10286981"/>
            <a:chOff x="0" y="0"/>
            <a:chExt cx="24377866" cy="13715975"/>
          </a:xfrm>
        </p:grpSpPr>
        <p:sp>
          <p:nvSpPr>
            <p:cNvPr id="5" name="Freeform 5"/>
            <p:cNvSpPr/>
            <p:nvPr/>
          </p:nvSpPr>
          <p:spPr>
            <a:xfrm>
              <a:off x="0" y="0"/>
              <a:ext cx="24377904" cy="13716000"/>
            </a:xfrm>
            <a:custGeom>
              <a:avLst/>
              <a:gdLst/>
              <a:ahLst/>
              <a:cxnLst/>
              <a:rect l="l" t="t" r="r" b="b"/>
              <a:pathLst>
                <a:path w="24377904" h="13716000">
                  <a:moveTo>
                    <a:pt x="0" y="0"/>
                  </a:moveTo>
                  <a:lnTo>
                    <a:pt x="24377904" y="0"/>
                  </a:lnTo>
                  <a:lnTo>
                    <a:pt x="24377904" y="13716000"/>
                  </a:lnTo>
                  <a:lnTo>
                    <a:pt x="0" y="13716000"/>
                  </a:lnTo>
                  <a:lnTo>
                    <a:pt x="0" y="0"/>
                  </a:lnTo>
                  <a:close/>
                </a:path>
              </a:pathLst>
            </a:custGeom>
            <a:blipFill>
              <a:blip r:embed="rId2"/>
              <a:stretch>
                <a:fillRect l="-38897" r="-30318" b="-251"/>
              </a:stretch>
            </a:blipFill>
          </p:spPr>
          <p:txBody>
            <a:bodyPr/>
            <a:lstStyle/>
            <a:p>
              <a:endParaRPr lang="fr-MA"/>
            </a:p>
          </p:txBody>
        </p:sp>
      </p:grpSp>
      <p:grpSp>
        <p:nvGrpSpPr>
          <p:cNvPr id="6" name="Group 6"/>
          <p:cNvGrpSpPr/>
          <p:nvPr/>
        </p:nvGrpSpPr>
        <p:grpSpPr>
          <a:xfrm>
            <a:off x="776802" y="9300943"/>
            <a:ext cx="7531770" cy="223923"/>
            <a:chOff x="0" y="0"/>
            <a:chExt cx="10042360" cy="298564"/>
          </a:xfrm>
        </p:grpSpPr>
        <p:sp>
          <p:nvSpPr>
            <p:cNvPr id="7" name="Freeform 7"/>
            <p:cNvSpPr/>
            <p:nvPr/>
          </p:nvSpPr>
          <p:spPr>
            <a:xfrm>
              <a:off x="0" y="0"/>
              <a:ext cx="10042398" cy="298577"/>
            </a:xfrm>
            <a:custGeom>
              <a:avLst/>
              <a:gdLst/>
              <a:ahLst/>
              <a:cxnLst/>
              <a:rect l="l" t="t" r="r" b="b"/>
              <a:pathLst>
                <a:path w="10042398" h="298577">
                  <a:moveTo>
                    <a:pt x="0" y="0"/>
                  </a:moveTo>
                  <a:lnTo>
                    <a:pt x="10042398" y="0"/>
                  </a:lnTo>
                  <a:lnTo>
                    <a:pt x="10042398" y="298577"/>
                  </a:lnTo>
                  <a:lnTo>
                    <a:pt x="0" y="298577"/>
                  </a:lnTo>
                  <a:close/>
                </a:path>
              </a:pathLst>
            </a:custGeom>
            <a:solidFill>
              <a:srgbClr val="FFFFFF"/>
            </a:solidFill>
          </p:spPr>
          <p:txBody>
            <a:bodyPr/>
            <a:lstStyle/>
            <a:p>
              <a:endParaRPr lang="fr-MA"/>
            </a:p>
          </p:txBody>
        </p:sp>
      </p:grpSp>
      <p:pic>
        <p:nvPicPr>
          <p:cNvPr id="8" name="Picture 8"/>
          <p:cNvPicPr>
            <a:picLocks noChangeAspect="1"/>
          </p:cNvPicPr>
          <p:nvPr/>
        </p:nvPicPr>
        <p:blipFill>
          <a:blip r:embed="rId3"/>
          <a:stretch>
            <a:fillRect/>
          </a:stretch>
        </p:blipFill>
        <p:spPr>
          <a:xfrm>
            <a:off x="1295846" y="3026594"/>
            <a:ext cx="3034902" cy="3032652"/>
          </a:xfrm>
          <a:prstGeom prst="rect">
            <a:avLst/>
          </a:prstGeom>
        </p:spPr>
      </p:pic>
      <p:sp>
        <p:nvSpPr>
          <p:cNvPr id="9" name="TextBox 9"/>
          <p:cNvSpPr txBox="1"/>
          <p:nvPr/>
        </p:nvSpPr>
        <p:spPr>
          <a:xfrm>
            <a:off x="16567290" y="9564386"/>
            <a:ext cx="1185396" cy="379752"/>
          </a:xfrm>
          <a:prstGeom prst="rect">
            <a:avLst/>
          </a:prstGeom>
        </p:spPr>
        <p:txBody>
          <a:bodyPr lIns="0" tIns="0" rIns="0" bIns="0" rtlCol="0" anchor="t">
            <a:spAutoFit/>
          </a:bodyPr>
          <a:lstStyle/>
          <a:p>
            <a:pPr algn="l">
              <a:lnSpc>
                <a:spcPts val="2520"/>
              </a:lnSpc>
            </a:pPr>
            <a:r>
              <a:rPr lang="en-US" sz="2100" u="sng">
                <a:solidFill>
                  <a:srgbClr val="83F6FF"/>
                </a:solidFill>
                <a:latin typeface="Arimo"/>
                <a:ea typeface="Arimo"/>
                <a:cs typeface="Arimo"/>
                <a:sym typeface="Arimo"/>
                <a:hlinkClick r:id="rId4" tooltip="https://science.nasa.gov/venus/"/>
              </a:rPr>
              <a:t>Venus</a:t>
            </a:r>
          </a:p>
        </p:txBody>
      </p:sp>
      <p:sp>
        <p:nvSpPr>
          <p:cNvPr id="10" name="TextBox 10"/>
          <p:cNvSpPr txBox="1"/>
          <p:nvPr/>
        </p:nvSpPr>
        <p:spPr>
          <a:xfrm>
            <a:off x="708441" y="8080734"/>
            <a:ext cx="12223652" cy="897103"/>
          </a:xfrm>
          <a:prstGeom prst="rect">
            <a:avLst/>
          </a:prstGeom>
        </p:spPr>
        <p:txBody>
          <a:bodyPr lIns="0" tIns="0" rIns="0" bIns="0" rtlCol="0" anchor="t">
            <a:spAutoFit/>
          </a:bodyPr>
          <a:lstStyle/>
          <a:p>
            <a:pPr algn="l">
              <a:lnSpc>
                <a:spcPts val="3240"/>
              </a:lnSpc>
            </a:pPr>
            <a:r>
              <a:rPr lang="en-US" sz="2700" b="1" dirty="0">
                <a:solidFill>
                  <a:srgbClr val="FFFFFF"/>
                </a:solidFill>
                <a:latin typeface="Arimo Bold"/>
                <a:ea typeface="Arimo Bold"/>
                <a:cs typeface="Arimo Bold"/>
                <a:sym typeface="Arimo Bold"/>
              </a:rPr>
              <a:t>Vénus est la deuxième </a:t>
            </a:r>
            <a:r>
              <a:rPr lang="en-US" sz="2700" b="1" dirty="0" err="1">
                <a:solidFill>
                  <a:srgbClr val="FFFFFF"/>
                </a:solidFill>
                <a:latin typeface="Arimo Bold"/>
                <a:ea typeface="Arimo Bold"/>
                <a:cs typeface="Arimo Bold"/>
                <a:sym typeface="Arimo Bold"/>
              </a:rPr>
              <a:t>planète</a:t>
            </a:r>
            <a:r>
              <a:rPr lang="en-US" sz="2700" b="1" dirty="0">
                <a:solidFill>
                  <a:srgbClr val="FFFFFF"/>
                </a:solidFill>
                <a:latin typeface="Arimo Bold"/>
                <a:ea typeface="Arimo Bold"/>
                <a:cs typeface="Arimo Bold"/>
                <a:sym typeface="Arimo Bold"/>
              </a:rPr>
              <a:t> du </a:t>
            </a:r>
            <a:r>
              <a:rPr lang="en-US" sz="2700" b="1" dirty="0" err="1">
                <a:solidFill>
                  <a:srgbClr val="FFFFFF"/>
                </a:solidFill>
                <a:latin typeface="Arimo Bold"/>
                <a:ea typeface="Arimo Bold"/>
                <a:cs typeface="Arimo Bold"/>
                <a:sym typeface="Arimo Bold"/>
              </a:rPr>
              <a:t>système</a:t>
            </a:r>
            <a:r>
              <a:rPr lang="en-US" sz="2700" b="1" dirty="0">
                <a:solidFill>
                  <a:srgbClr val="FFFFFF"/>
                </a:solidFill>
                <a:latin typeface="Arimo Bold"/>
                <a:ea typeface="Arimo Bold"/>
                <a:cs typeface="Arimo Bold"/>
                <a:sym typeface="Arimo Bold"/>
              </a:rPr>
              <a:t> </a:t>
            </a:r>
            <a:r>
              <a:rPr lang="en-US" sz="2700" b="1" dirty="0" err="1">
                <a:solidFill>
                  <a:srgbClr val="FFFFFF"/>
                </a:solidFill>
                <a:latin typeface="Arimo Bold"/>
                <a:ea typeface="Arimo Bold"/>
                <a:cs typeface="Arimo Bold"/>
                <a:sym typeface="Arimo Bold"/>
              </a:rPr>
              <a:t>solaire</a:t>
            </a:r>
            <a:r>
              <a:rPr lang="en-US" sz="2700" b="1" dirty="0">
                <a:solidFill>
                  <a:srgbClr val="FFFFFF"/>
                </a:solidFill>
                <a:latin typeface="Arimo Bold"/>
                <a:ea typeface="Arimo Bold"/>
                <a:cs typeface="Arimo Bold"/>
                <a:sym typeface="Arimo Bold"/>
              </a:rPr>
              <a:t> et la </a:t>
            </a:r>
            <a:r>
              <a:rPr lang="en-US" sz="2700" b="1" dirty="0" err="1">
                <a:solidFill>
                  <a:srgbClr val="FFFFFF"/>
                </a:solidFill>
                <a:latin typeface="Arimo Bold"/>
                <a:ea typeface="Arimo Bold"/>
                <a:cs typeface="Arimo Bold"/>
                <a:sym typeface="Arimo Bold"/>
              </a:rPr>
              <a:t>sixième</a:t>
            </a:r>
            <a:r>
              <a:rPr lang="en-US" sz="2700" b="1" dirty="0">
                <a:solidFill>
                  <a:srgbClr val="FFFFFF"/>
                </a:solidFill>
                <a:latin typeface="Arimo Bold"/>
                <a:ea typeface="Arimo Bold"/>
                <a:cs typeface="Arimo Bold"/>
                <a:sym typeface="Arimo Bold"/>
              </a:rPr>
              <a:t> plus grande. </a:t>
            </a:r>
            <a:r>
              <a:rPr lang="en-US" sz="2700" b="1" dirty="0" err="1">
                <a:solidFill>
                  <a:srgbClr val="FFFFFF"/>
                </a:solidFill>
                <a:latin typeface="Arimo Bold"/>
                <a:ea typeface="Arimo Bold"/>
                <a:cs typeface="Arimo Bold"/>
                <a:sym typeface="Arimo Bold"/>
              </a:rPr>
              <a:t>C'est</a:t>
            </a:r>
            <a:r>
              <a:rPr lang="en-US" sz="2700" b="1" dirty="0">
                <a:solidFill>
                  <a:srgbClr val="FFFFFF"/>
                </a:solidFill>
                <a:latin typeface="Arimo Bold"/>
                <a:ea typeface="Arimo Bold"/>
                <a:cs typeface="Arimo Bold"/>
                <a:sym typeface="Arimo Bold"/>
              </a:rPr>
              <a:t> la </a:t>
            </a:r>
            <a:r>
              <a:rPr lang="en-US" sz="2700" b="1" dirty="0" err="1">
                <a:solidFill>
                  <a:srgbClr val="FFFFFF"/>
                </a:solidFill>
                <a:latin typeface="Arimo Bold"/>
                <a:ea typeface="Arimo Bold"/>
                <a:cs typeface="Arimo Bold"/>
                <a:sym typeface="Arimo Bold"/>
              </a:rPr>
              <a:t>planète</a:t>
            </a:r>
            <a:r>
              <a:rPr lang="en-US" sz="2700" b="1" dirty="0">
                <a:solidFill>
                  <a:srgbClr val="FFFFFF"/>
                </a:solidFill>
                <a:latin typeface="Arimo Bold"/>
                <a:ea typeface="Arimo Bold"/>
                <a:cs typeface="Arimo Bold"/>
                <a:sym typeface="Arimo Bold"/>
              </a:rPr>
              <a:t> la plus </a:t>
            </a:r>
            <a:r>
              <a:rPr lang="en-US" sz="2700" b="1" dirty="0" err="1">
                <a:solidFill>
                  <a:srgbClr val="FFFFFF"/>
                </a:solidFill>
                <a:latin typeface="Arimo Bold"/>
                <a:ea typeface="Arimo Bold"/>
                <a:cs typeface="Arimo Bold"/>
                <a:sym typeface="Arimo Bold"/>
              </a:rPr>
              <a:t>chaude</a:t>
            </a:r>
            <a:r>
              <a:rPr lang="en-US" sz="2700" b="1" dirty="0">
                <a:solidFill>
                  <a:srgbClr val="FFFFFF"/>
                </a:solidFill>
                <a:latin typeface="Arimo Bold"/>
                <a:ea typeface="Arimo Bold"/>
                <a:cs typeface="Arimo Bold"/>
                <a:sym typeface="Arimo Bold"/>
              </a:rPr>
              <a:t> de </a:t>
            </a:r>
            <a:r>
              <a:rPr lang="en-US" sz="2700" b="1" dirty="0" err="1">
                <a:solidFill>
                  <a:srgbClr val="FFFFFF"/>
                </a:solidFill>
                <a:latin typeface="Arimo Bold"/>
                <a:ea typeface="Arimo Bold"/>
                <a:cs typeface="Arimo Bold"/>
                <a:sym typeface="Arimo Bold"/>
              </a:rPr>
              <a:t>notre</a:t>
            </a:r>
            <a:r>
              <a:rPr lang="en-US" sz="2700" b="1" dirty="0">
                <a:solidFill>
                  <a:srgbClr val="FFFFFF"/>
                </a:solidFill>
                <a:latin typeface="Arimo Bold"/>
                <a:ea typeface="Arimo Bold"/>
                <a:cs typeface="Arimo Bold"/>
                <a:sym typeface="Arimo Bold"/>
              </a:rPr>
              <a:t> </a:t>
            </a:r>
            <a:r>
              <a:rPr lang="en-US" sz="2700" b="1" dirty="0" err="1">
                <a:solidFill>
                  <a:srgbClr val="FFFFFF"/>
                </a:solidFill>
                <a:latin typeface="Arimo Bold"/>
                <a:ea typeface="Arimo Bold"/>
                <a:cs typeface="Arimo Bold"/>
                <a:sym typeface="Arimo Bold"/>
              </a:rPr>
              <a:t>système</a:t>
            </a:r>
            <a:r>
              <a:rPr lang="en-US" sz="2700" b="1" dirty="0">
                <a:solidFill>
                  <a:srgbClr val="FFFFFF"/>
                </a:solidFill>
                <a:latin typeface="Arimo Bold"/>
                <a:ea typeface="Arimo Bold"/>
                <a:cs typeface="Arimo Bold"/>
                <a:sym typeface="Arimo Bold"/>
              </a:rPr>
              <a:t> </a:t>
            </a:r>
            <a:r>
              <a:rPr lang="en-US" sz="2700" b="1" dirty="0" err="1">
                <a:solidFill>
                  <a:srgbClr val="FFFFFF"/>
                </a:solidFill>
                <a:latin typeface="Arimo Bold"/>
                <a:ea typeface="Arimo Bold"/>
                <a:cs typeface="Arimo Bold"/>
                <a:sym typeface="Arimo Bold"/>
              </a:rPr>
              <a:t>solaire</a:t>
            </a:r>
            <a:r>
              <a:rPr lang="en-US" sz="2700" b="1" dirty="0">
                <a:solidFill>
                  <a:srgbClr val="FFFFFF"/>
                </a:solidFill>
                <a:latin typeface="Arimo Bold"/>
                <a:ea typeface="Arimo Bold"/>
                <a:cs typeface="Arimo Bold"/>
                <a:sym typeface="Arimo Bold"/>
              </a:rPr>
              <a:t>.</a:t>
            </a:r>
          </a:p>
        </p:txBody>
      </p:sp>
      <p:sp>
        <p:nvSpPr>
          <p:cNvPr id="11" name="TextBox 11"/>
          <p:cNvSpPr txBox="1"/>
          <p:nvPr/>
        </p:nvSpPr>
        <p:spPr>
          <a:xfrm>
            <a:off x="8620668" y="947461"/>
            <a:ext cx="1901152" cy="804777"/>
          </a:xfrm>
          <a:prstGeom prst="rect">
            <a:avLst/>
          </a:prstGeom>
        </p:spPr>
        <p:txBody>
          <a:bodyPr lIns="0" tIns="0" rIns="0" bIns="0" rtlCol="0" anchor="t">
            <a:spAutoFit/>
          </a:bodyPr>
          <a:lstStyle/>
          <a:p>
            <a:pPr algn="l">
              <a:lnSpc>
                <a:spcPts val="5759"/>
              </a:lnSpc>
            </a:pPr>
            <a:r>
              <a:rPr lang="en-US" sz="4800">
                <a:solidFill>
                  <a:srgbClr val="FFFFFF"/>
                </a:solidFill>
                <a:latin typeface="Arimo"/>
                <a:ea typeface="Arimo"/>
                <a:cs typeface="Arimo"/>
                <a:sym typeface="Arimo"/>
              </a:rPr>
              <a:t>Venus</a:t>
            </a:r>
          </a:p>
        </p:txBody>
      </p:sp>
      <p:sp>
        <p:nvSpPr>
          <p:cNvPr id="12" name="TextBox 12"/>
          <p:cNvSpPr txBox="1"/>
          <p:nvPr/>
        </p:nvSpPr>
        <p:spPr>
          <a:xfrm>
            <a:off x="13365584" y="2126817"/>
            <a:ext cx="3893716" cy="1266825"/>
          </a:xfrm>
          <a:prstGeom prst="rect">
            <a:avLst/>
          </a:prstGeom>
        </p:spPr>
        <p:txBody>
          <a:bodyPr lIns="0" tIns="0" rIns="0" bIns="0" rtlCol="0" anchor="t">
            <a:spAutoFit/>
          </a:bodyPr>
          <a:lstStyle/>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La planète la plus chaude</a:t>
            </a:r>
          </a:p>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Presque comme la Terre en taille</a:t>
            </a:r>
          </a:p>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Atmosphère toxique</a:t>
            </a:r>
          </a:p>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Très brillante dans le ciel</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76802" y="762133"/>
            <a:ext cx="16729824" cy="223923"/>
            <a:chOff x="0" y="0"/>
            <a:chExt cx="22306432" cy="298564"/>
          </a:xfrm>
        </p:grpSpPr>
        <p:sp>
          <p:nvSpPr>
            <p:cNvPr id="3" name="Freeform 3"/>
            <p:cNvSpPr/>
            <p:nvPr/>
          </p:nvSpPr>
          <p:spPr>
            <a:xfrm>
              <a:off x="0" y="0"/>
              <a:ext cx="22306407" cy="298577"/>
            </a:xfrm>
            <a:custGeom>
              <a:avLst/>
              <a:gdLst/>
              <a:ahLst/>
              <a:cxnLst/>
              <a:rect l="l" t="t" r="r" b="b"/>
              <a:pathLst>
                <a:path w="22306407" h="298577">
                  <a:moveTo>
                    <a:pt x="0" y="0"/>
                  </a:moveTo>
                  <a:lnTo>
                    <a:pt x="22306407" y="0"/>
                  </a:lnTo>
                  <a:lnTo>
                    <a:pt x="22306407" y="298577"/>
                  </a:lnTo>
                  <a:lnTo>
                    <a:pt x="0" y="298577"/>
                  </a:lnTo>
                  <a:close/>
                </a:path>
              </a:pathLst>
            </a:custGeom>
            <a:solidFill>
              <a:srgbClr val="000000"/>
            </a:solidFill>
          </p:spPr>
          <p:txBody>
            <a:bodyPr/>
            <a:lstStyle/>
            <a:p>
              <a:endParaRPr lang="fr-MA"/>
            </a:p>
          </p:txBody>
        </p:sp>
      </p:grpSp>
      <p:grpSp>
        <p:nvGrpSpPr>
          <p:cNvPr id="4" name="Group 4"/>
          <p:cNvGrpSpPr/>
          <p:nvPr/>
        </p:nvGrpSpPr>
        <p:grpSpPr>
          <a:xfrm>
            <a:off x="29" y="19"/>
            <a:ext cx="18283399" cy="10286981"/>
            <a:chOff x="0" y="0"/>
            <a:chExt cx="24377866" cy="13715975"/>
          </a:xfrm>
        </p:grpSpPr>
        <p:sp>
          <p:nvSpPr>
            <p:cNvPr id="5" name="Freeform 5"/>
            <p:cNvSpPr/>
            <p:nvPr/>
          </p:nvSpPr>
          <p:spPr>
            <a:xfrm>
              <a:off x="0" y="0"/>
              <a:ext cx="24377904" cy="13716000"/>
            </a:xfrm>
            <a:custGeom>
              <a:avLst/>
              <a:gdLst/>
              <a:ahLst/>
              <a:cxnLst/>
              <a:rect l="l" t="t" r="r" b="b"/>
              <a:pathLst>
                <a:path w="24377904" h="13716000">
                  <a:moveTo>
                    <a:pt x="0" y="0"/>
                  </a:moveTo>
                  <a:lnTo>
                    <a:pt x="24377904" y="0"/>
                  </a:lnTo>
                  <a:lnTo>
                    <a:pt x="24377904" y="13716000"/>
                  </a:lnTo>
                  <a:lnTo>
                    <a:pt x="0" y="13716000"/>
                  </a:lnTo>
                  <a:lnTo>
                    <a:pt x="0" y="0"/>
                  </a:lnTo>
                  <a:close/>
                </a:path>
              </a:pathLst>
            </a:custGeom>
            <a:blipFill>
              <a:blip r:embed="rId2"/>
              <a:stretch>
                <a:fillRect r="-24"/>
              </a:stretch>
            </a:blipFill>
          </p:spPr>
          <p:txBody>
            <a:bodyPr/>
            <a:lstStyle/>
            <a:p>
              <a:endParaRPr lang="fr-MA"/>
            </a:p>
          </p:txBody>
        </p:sp>
      </p:grpSp>
      <p:pic>
        <p:nvPicPr>
          <p:cNvPr id="6" name="Picture 6"/>
          <p:cNvPicPr>
            <a:picLocks noChangeAspect="1"/>
          </p:cNvPicPr>
          <p:nvPr/>
        </p:nvPicPr>
        <p:blipFill>
          <a:blip r:embed="rId3"/>
          <a:stretch>
            <a:fillRect/>
          </a:stretch>
        </p:blipFill>
        <p:spPr>
          <a:xfrm>
            <a:off x="1666258" y="3471162"/>
            <a:ext cx="1979325" cy="1985192"/>
          </a:xfrm>
          <a:prstGeom prst="rect">
            <a:avLst/>
          </a:prstGeom>
        </p:spPr>
      </p:pic>
      <p:sp>
        <p:nvSpPr>
          <p:cNvPr id="7" name="TextBox 7"/>
          <p:cNvSpPr txBox="1"/>
          <p:nvPr/>
        </p:nvSpPr>
        <p:spPr>
          <a:xfrm>
            <a:off x="15466457" y="9683277"/>
            <a:ext cx="2730103" cy="379752"/>
          </a:xfrm>
          <a:prstGeom prst="rect">
            <a:avLst/>
          </a:prstGeom>
        </p:spPr>
        <p:txBody>
          <a:bodyPr lIns="0" tIns="0" rIns="0" bIns="0" rtlCol="0" anchor="t">
            <a:spAutoFit/>
          </a:bodyPr>
          <a:lstStyle/>
          <a:p>
            <a:pPr algn="l">
              <a:lnSpc>
                <a:spcPts val="2520"/>
              </a:lnSpc>
            </a:pPr>
            <a:r>
              <a:rPr lang="en-US" sz="2100" u="sng">
                <a:solidFill>
                  <a:srgbClr val="83F6FF"/>
                </a:solidFill>
                <a:latin typeface="Arimo"/>
                <a:ea typeface="Arimo"/>
                <a:cs typeface="Arimo"/>
                <a:sym typeface="Arimo"/>
                <a:hlinkClick r:id="rId4" tooltip="https://eyes.nasa.gov/apps/earth/#/"/>
              </a:rPr>
              <a:t>Eyes</a:t>
            </a:r>
            <a:r>
              <a:rPr lang="en-US" sz="2100" u="sng">
                <a:solidFill>
                  <a:srgbClr val="2998E3"/>
                </a:solidFill>
                <a:latin typeface="Arimo"/>
                <a:ea typeface="Arimo"/>
                <a:cs typeface="Arimo"/>
                <a:sym typeface="Arimo"/>
                <a:hlinkClick r:id="rId4" tooltip="https://eyes.nasa.gov/apps/earth/#/"/>
              </a:rPr>
              <a:t> </a:t>
            </a:r>
            <a:r>
              <a:rPr lang="en-US" sz="2100" u="sng">
                <a:solidFill>
                  <a:srgbClr val="83F6FF"/>
                </a:solidFill>
                <a:latin typeface="Arimo"/>
                <a:ea typeface="Arimo"/>
                <a:cs typeface="Arimo"/>
                <a:sym typeface="Arimo"/>
                <a:hlinkClick r:id="rId4" tooltip="https://eyes.nasa.gov/apps/earth/#/"/>
              </a:rPr>
              <a:t>on</a:t>
            </a:r>
            <a:r>
              <a:rPr lang="en-US" sz="2100" u="sng">
                <a:solidFill>
                  <a:srgbClr val="2998E3"/>
                </a:solidFill>
                <a:latin typeface="Arimo"/>
                <a:ea typeface="Arimo"/>
                <a:cs typeface="Arimo"/>
                <a:sym typeface="Arimo"/>
                <a:hlinkClick r:id="rId4" tooltip="https://eyes.nasa.gov/apps/earth/#/"/>
              </a:rPr>
              <a:t> </a:t>
            </a:r>
            <a:r>
              <a:rPr lang="en-US" sz="2100" u="sng">
                <a:solidFill>
                  <a:srgbClr val="83F6FF"/>
                </a:solidFill>
                <a:latin typeface="Arimo"/>
                <a:ea typeface="Arimo"/>
                <a:cs typeface="Arimo"/>
                <a:sym typeface="Arimo"/>
                <a:hlinkClick r:id="rId4" tooltip="https://eyes.nasa.gov/apps/earth/#/"/>
              </a:rPr>
              <a:t>the</a:t>
            </a:r>
            <a:r>
              <a:rPr lang="en-US" sz="2100" u="sng">
                <a:solidFill>
                  <a:srgbClr val="2998E3"/>
                </a:solidFill>
                <a:latin typeface="Arimo"/>
                <a:ea typeface="Arimo"/>
                <a:cs typeface="Arimo"/>
                <a:sym typeface="Arimo"/>
                <a:hlinkClick r:id="rId4" tooltip="https://eyes.nasa.gov/apps/earth/#/"/>
              </a:rPr>
              <a:t> </a:t>
            </a:r>
            <a:r>
              <a:rPr lang="en-US" sz="2100" u="sng">
                <a:solidFill>
                  <a:srgbClr val="83F6FF"/>
                </a:solidFill>
                <a:latin typeface="Arimo"/>
                <a:ea typeface="Arimo"/>
                <a:cs typeface="Arimo"/>
                <a:sym typeface="Arimo"/>
                <a:hlinkClick r:id="rId4" tooltip="https://eyes.nasa.gov/apps/earth/#/"/>
              </a:rPr>
              <a:t>Earth</a:t>
            </a:r>
          </a:p>
        </p:txBody>
      </p:sp>
      <p:sp>
        <p:nvSpPr>
          <p:cNvPr id="8" name="TextBox 8"/>
          <p:cNvSpPr txBox="1"/>
          <p:nvPr/>
        </p:nvSpPr>
        <p:spPr>
          <a:xfrm>
            <a:off x="7697845" y="614496"/>
            <a:ext cx="2100858" cy="742950"/>
          </a:xfrm>
          <a:prstGeom prst="rect">
            <a:avLst/>
          </a:prstGeom>
        </p:spPr>
        <p:txBody>
          <a:bodyPr lIns="0" tIns="0" rIns="0" bIns="0" rtlCol="0" anchor="t">
            <a:spAutoFit/>
          </a:bodyPr>
          <a:lstStyle/>
          <a:p>
            <a:pPr algn="ctr">
              <a:lnSpc>
                <a:spcPts val="5759"/>
              </a:lnSpc>
            </a:pPr>
            <a:r>
              <a:rPr lang="en-US" sz="4800">
                <a:solidFill>
                  <a:srgbClr val="FFFFFF"/>
                </a:solidFill>
                <a:latin typeface="Arimo"/>
                <a:ea typeface="Arimo"/>
                <a:cs typeface="Arimo"/>
                <a:sym typeface="Arimo"/>
              </a:rPr>
              <a:t>La terre</a:t>
            </a:r>
          </a:p>
        </p:txBody>
      </p:sp>
      <p:sp>
        <p:nvSpPr>
          <p:cNvPr id="9" name="TextBox 9"/>
          <p:cNvSpPr txBox="1"/>
          <p:nvPr/>
        </p:nvSpPr>
        <p:spPr>
          <a:xfrm>
            <a:off x="310620" y="7925343"/>
            <a:ext cx="17662208" cy="1728102"/>
          </a:xfrm>
          <a:prstGeom prst="rect">
            <a:avLst/>
          </a:prstGeom>
        </p:spPr>
        <p:txBody>
          <a:bodyPr lIns="0" tIns="0" rIns="0" bIns="0" rtlCol="0" anchor="t">
            <a:spAutoFit/>
          </a:bodyPr>
          <a:lstStyle/>
          <a:p>
            <a:pPr algn="l">
              <a:lnSpc>
                <a:spcPts val="3240"/>
              </a:lnSpc>
            </a:pPr>
            <a:r>
              <a:rPr lang="en-US" sz="2700" b="1">
                <a:solidFill>
                  <a:srgbClr val="FFFFFF"/>
                </a:solidFill>
                <a:latin typeface="Arimo Bold"/>
                <a:ea typeface="Arimo Bold"/>
                <a:cs typeface="Arimo Bold"/>
                <a:sym typeface="Arimo Bold"/>
              </a:rPr>
              <a:t>La Terre est la troisième planète en partant du Soleil, située à environ 150 millions de kilomètres, soit une unité astronomique. Elle effectue une révolution autour du Soleil en 365,256 jours et une rotation sur elle-même en environ 23 h 56 min, ce qui définit le jour sidéral. L'axe de rotation est incliné d'environ 23°, ce qui provoque l'alternance des saisons.</a:t>
            </a:r>
          </a:p>
        </p:txBody>
      </p:sp>
      <p:sp>
        <p:nvSpPr>
          <p:cNvPr id="10" name="TextBox 10"/>
          <p:cNvSpPr txBox="1"/>
          <p:nvPr/>
        </p:nvSpPr>
        <p:spPr>
          <a:xfrm>
            <a:off x="13527435" y="1617997"/>
            <a:ext cx="3731865" cy="952500"/>
          </a:xfrm>
          <a:prstGeom prst="rect">
            <a:avLst/>
          </a:prstGeom>
        </p:spPr>
        <p:txBody>
          <a:bodyPr lIns="0" tIns="0" rIns="0" bIns="0" rtlCol="0" anchor="t">
            <a:spAutoFit/>
          </a:bodyPr>
          <a:lstStyle/>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La seule planète avec la vie 🌱</a:t>
            </a:r>
          </a:p>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Il y a de l’eau et de l’air</a:t>
            </a:r>
          </a:p>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Une seule Lune</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6023" r="-2071" b="-36023"/>
            </a:stretch>
          </a:blipFill>
        </p:spPr>
        <p:txBody>
          <a:bodyPr/>
          <a:lstStyle/>
          <a:p>
            <a:endParaRPr lang="fr-MA"/>
          </a:p>
        </p:txBody>
      </p:sp>
      <p:pic>
        <p:nvPicPr>
          <p:cNvPr id="3" name="Picture 3"/>
          <p:cNvPicPr>
            <a:picLocks noChangeAspect="1"/>
          </p:cNvPicPr>
          <p:nvPr/>
        </p:nvPicPr>
        <p:blipFill>
          <a:blip r:embed="rId3"/>
          <a:stretch>
            <a:fillRect/>
          </a:stretch>
        </p:blipFill>
        <p:spPr>
          <a:xfrm>
            <a:off x="425333" y="2904250"/>
            <a:ext cx="2444795" cy="2442983"/>
          </a:xfrm>
          <a:prstGeom prst="rect">
            <a:avLst/>
          </a:prstGeom>
        </p:spPr>
      </p:pic>
      <p:sp>
        <p:nvSpPr>
          <p:cNvPr id="4" name="TextBox 4"/>
          <p:cNvSpPr txBox="1"/>
          <p:nvPr/>
        </p:nvSpPr>
        <p:spPr>
          <a:xfrm>
            <a:off x="8790686" y="1009650"/>
            <a:ext cx="1354634" cy="742950"/>
          </a:xfrm>
          <a:prstGeom prst="rect">
            <a:avLst/>
          </a:prstGeom>
        </p:spPr>
        <p:txBody>
          <a:bodyPr lIns="0" tIns="0" rIns="0" bIns="0" rtlCol="0" anchor="t">
            <a:spAutoFit/>
          </a:bodyPr>
          <a:lstStyle/>
          <a:p>
            <a:pPr marL="0" lvl="0" indent="0" algn="ctr">
              <a:lnSpc>
                <a:spcPts val="5759"/>
              </a:lnSpc>
              <a:spcBef>
                <a:spcPct val="0"/>
              </a:spcBef>
            </a:pPr>
            <a:r>
              <a:rPr lang="en-US" sz="4800">
                <a:solidFill>
                  <a:srgbClr val="FFFFFF"/>
                </a:solidFill>
                <a:latin typeface="Arimo"/>
                <a:ea typeface="Arimo"/>
                <a:cs typeface="Arimo"/>
                <a:sym typeface="Arimo"/>
              </a:rPr>
              <a:t>Mars</a:t>
            </a:r>
          </a:p>
        </p:txBody>
      </p:sp>
      <p:sp>
        <p:nvSpPr>
          <p:cNvPr id="5" name="TextBox 5"/>
          <p:cNvSpPr txBox="1"/>
          <p:nvPr/>
        </p:nvSpPr>
        <p:spPr>
          <a:xfrm>
            <a:off x="16962965" y="9458721"/>
            <a:ext cx="592671" cy="328613"/>
          </a:xfrm>
          <a:prstGeom prst="rect">
            <a:avLst/>
          </a:prstGeom>
        </p:spPr>
        <p:txBody>
          <a:bodyPr lIns="0" tIns="0" rIns="0" bIns="0" rtlCol="0" anchor="t">
            <a:spAutoFit/>
          </a:bodyPr>
          <a:lstStyle/>
          <a:p>
            <a:pPr marL="0" lvl="0" indent="0" algn="l">
              <a:lnSpc>
                <a:spcPts val="2520"/>
              </a:lnSpc>
              <a:spcBef>
                <a:spcPct val="0"/>
              </a:spcBef>
            </a:pPr>
            <a:r>
              <a:rPr lang="en-US" sz="2100" u="sng">
                <a:solidFill>
                  <a:srgbClr val="83F6FF"/>
                </a:solidFill>
                <a:latin typeface="Arimo"/>
                <a:ea typeface="Arimo"/>
                <a:cs typeface="Arimo"/>
                <a:sym typeface="Arimo"/>
                <a:hlinkClick r:id="rId4" tooltip="https://science.nasa.gov/mars/"/>
              </a:rPr>
              <a:t>Mars</a:t>
            </a:r>
          </a:p>
        </p:txBody>
      </p:sp>
      <p:sp>
        <p:nvSpPr>
          <p:cNvPr id="6" name="TextBox 6"/>
          <p:cNvSpPr txBox="1"/>
          <p:nvPr/>
        </p:nvSpPr>
        <p:spPr>
          <a:xfrm>
            <a:off x="12737511" y="2125412"/>
            <a:ext cx="4225454" cy="952500"/>
          </a:xfrm>
          <a:prstGeom prst="rect">
            <a:avLst/>
          </a:prstGeom>
        </p:spPr>
        <p:txBody>
          <a:bodyPr lIns="0" tIns="0" rIns="0" bIns="0" rtlCol="0" anchor="t">
            <a:spAutoFit/>
          </a:bodyPr>
          <a:lstStyle/>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La planète rouge 🔴</a:t>
            </a:r>
          </a:p>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Il y a des volcans</a:t>
            </a:r>
          </a:p>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Les scientifiques cherchent de l’eau</a:t>
            </a:r>
          </a:p>
        </p:txBody>
      </p:sp>
      <p:sp>
        <p:nvSpPr>
          <p:cNvPr id="7" name="TextBox 7"/>
          <p:cNvSpPr txBox="1"/>
          <p:nvPr/>
        </p:nvSpPr>
        <p:spPr>
          <a:xfrm>
            <a:off x="228929" y="7810896"/>
            <a:ext cx="17830142" cy="1657350"/>
          </a:xfrm>
          <a:prstGeom prst="rect">
            <a:avLst/>
          </a:prstGeom>
        </p:spPr>
        <p:txBody>
          <a:bodyPr lIns="0" tIns="0" rIns="0" bIns="0" rtlCol="0" anchor="t">
            <a:spAutoFit/>
          </a:bodyPr>
          <a:lstStyle/>
          <a:p>
            <a:pPr marL="0" lvl="0" indent="0" algn="l">
              <a:lnSpc>
                <a:spcPts val="3240"/>
              </a:lnSpc>
              <a:spcBef>
                <a:spcPct val="0"/>
              </a:spcBef>
            </a:pPr>
            <a:r>
              <a:rPr lang="en-US" sz="2700" b="1" u="none" strike="noStrike" dirty="0">
                <a:solidFill>
                  <a:srgbClr val="FFFFFF"/>
                </a:solidFill>
                <a:latin typeface="Arimo Bold"/>
                <a:ea typeface="Arimo Bold"/>
                <a:cs typeface="Arimo Bold"/>
                <a:sym typeface="Arimo Bold"/>
              </a:rPr>
              <a:t>Mars </a:t>
            </a:r>
            <a:r>
              <a:rPr lang="en-US" sz="2700" b="1" u="none" strike="noStrike" dirty="0" err="1">
                <a:solidFill>
                  <a:srgbClr val="FFFFFF"/>
                </a:solidFill>
                <a:latin typeface="Arimo Bold"/>
                <a:ea typeface="Arimo Bold"/>
                <a:cs typeface="Arimo Bold"/>
                <a:sym typeface="Arimo Bold"/>
              </a:rPr>
              <a:t>n'est</a:t>
            </a:r>
            <a:r>
              <a:rPr lang="en-US" sz="2700" b="1" u="none" strike="noStrike" dirty="0">
                <a:solidFill>
                  <a:srgbClr val="FFFFFF"/>
                </a:solidFill>
                <a:latin typeface="Arimo Bold"/>
                <a:ea typeface="Arimo Bold"/>
                <a:cs typeface="Arimo Bold"/>
                <a:sym typeface="Arimo Bold"/>
              </a:rPr>
              <a:t> pas </a:t>
            </a:r>
            <a:r>
              <a:rPr lang="en-US" sz="2700" b="1" u="none" strike="noStrike" dirty="0" err="1">
                <a:solidFill>
                  <a:srgbClr val="FFFFFF"/>
                </a:solidFill>
                <a:latin typeface="Arimo Bold"/>
                <a:ea typeface="Arimo Bold"/>
                <a:cs typeface="Arimo Bold"/>
                <a:sym typeface="Arimo Bold"/>
              </a:rPr>
              <a:t>une</a:t>
            </a:r>
            <a:r>
              <a:rPr lang="en-US" sz="2700" b="1" u="none" strike="noStrike" dirty="0">
                <a:solidFill>
                  <a:srgbClr val="FFFFFF"/>
                </a:solidFill>
                <a:latin typeface="Arimo Bold"/>
                <a:ea typeface="Arimo Bold"/>
                <a:cs typeface="Arimo Bold"/>
                <a:sym typeface="Arimo Bold"/>
              </a:rPr>
              <a:t> destination pour les âmes </a:t>
            </a:r>
            <a:r>
              <a:rPr lang="en-US" sz="2700" b="1" u="none" strike="noStrike" dirty="0" err="1">
                <a:solidFill>
                  <a:srgbClr val="FFFFFF"/>
                </a:solidFill>
                <a:latin typeface="Arimo Bold"/>
                <a:ea typeface="Arimo Bold"/>
                <a:cs typeface="Arimo Bold"/>
                <a:sym typeface="Arimo Bold"/>
              </a:rPr>
              <a:t>sensibles</a:t>
            </a:r>
            <a:r>
              <a:rPr lang="en-US" sz="2700" b="1" u="none" strike="noStrike" dirty="0">
                <a:solidFill>
                  <a:srgbClr val="FFFFFF"/>
                </a:solidFill>
                <a:latin typeface="Arimo Bold"/>
                <a:ea typeface="Arimo Bold"/>
                <a:cs typeface="Arimo Bold"/>
                <a:sym typeface="Arimo Bold"/>
              </a:rPr>
              <a:t>. </a:t>
            </a:r>
            <a:r>
              <a:rPr lang="en-US" sz="2700" b="1" u="none" strike="noStrike" dirty="0" err="1">
                <a:solidFill>
                  <a:srgbClr val="FFFFFF"/>
                </a:solidFill>
                <a:latin typeface="Arimo Bold"/>
                <a:ea typeface="Arimo Bold"/>
                <a:cs typeface="Arimo Bold"/>
                <a:sym typeface="Arimo Bold"/>
              </a:rPr>
              <a:t>C'est</a:t>
            </a:r>
            <a:r>
              <a:rPr lang="en-US" sz="2700" b="1" u="none" strike="noStrike" dirty="0">
                <a:solidFill>
                  <a:srgbClr val="FFFFFF"/>
                </a:solidFill>
                <a:latin typeface="Arimo Bold"/>
                <a:ea typeface="Arimo Bold"/>
                <a:cs typeface="Arimo Bold"/>
                <a:sym typeface="Arimo Bold"/>
              </a:rPr>
              <a:t> </a:t>
            </a:r>
            <a:r>
              <a:rPr lang="en-US" sz="2700" b="1" u="none" strike="noStrike" dirty="0" err="1">
                <a:solidFill>
                  <a:srgbClr val="FFFFFF"/>
                </a:solidFill>
                <a:latin typeface="Arimo Bold"/>
                <a:ea typeface="Arimo Bold"/>
                <a:cs typeface="Arimo Bold"/>
                <a:sym typeface="Arimo Bold"/>
              </a:rPr>
              <a:t>une</a:t>
            </a:r>
            <a:r>
              <a:rPr lang="en-US" sz="2700" b="1" u="none" strike="noStrike" dirty="0">
                <a:solidFill>
                  <a:srgbClr val="FFFFFF"/>
                </a:solidFill>
                <a:latin typeface="Arimo Bold"/>
                <a:ea typeface="Arimo Bold"/>
                <a:cs typeface="Arimo Bold"/>
                <a:sym typeface="Arimo Bold"/>
              </a:rPr>
              <a:t> </a:t>
            </a:r>
            <a:r>
              <a:rPr lang="en-US" sz="2700" b="1" u="none" strike="noStrike" dirty="0" err="1">
                <a:solidFill>
                  <a:srgbClr val="FFFFFF"/>
                </a:solidFill>
                <a:latin typeface="Arimo Bold"/>
                <a:ea typeface="Arimo Bold"/>
                <a:cs typeface="Arimo Bold"/>
                <a:sym typeface="Arimo Bold"/>
              </a:rPr>
              <a:t>planète</a:t>
            </a:r>
            <a:r>
              <a:rPr lang="en-US" sz="2700" b="1" u="none" strike="noStrike" dirty="0">
                <a:solidFill>
                  <a:srgbClr val="FFFFFF"/>
                </a:solidFill>
                <a:latin typeface="Arimo Bold"/>
                <a:ea typeface="Arimo Bold"/>
                <a:cs typeface="Arimo Bold"/>
                <a:sym typeface="Arimo Bold"/>
              </a:rPr>
              <a:t> </a:t>
            </a:r>
            <a:r>
              <a:rPr lang="en-US" sz="2700" b="1" u="none" strike="noStrike" dirty="0" err="1">
                <a:solidFill>
                  <a:srgbClr val="FFFFFF"/>
                </a:solidFill>
                <a:latin typeface="Arimo Bold"/>
                <a:ea typeface="Arimo Bold"/>
                <a:cs typeface="Arimo Bold"/>
                <a:sym typeface="Arimo Bold"/>
              </a:rPr>
              <a:t>aride</a:t>
            </a:r>
            <a:r>
              <a:rPr lang="en-US" sz="2700" b="1" u="none" strike="noStrike" dirty="0">
                <a:solidFill>
                  <a:srgbClr val="FFFFFF"/>
                </a:solidFill>
                <a:latin typeface="Arimo Bold"/>
                <a:ea typeface="Arimo Bold"/>
                <a:cs typeface="Arimo Bold"/>
                <a:sym typeface="Arimo Bold"/>
              </a:rPr>
              <a:t>, </a:t>
            </a:r>
            <a:r>
              <a:rPr lang="en-US" sz="2700" b="1" u="none" strike="noStrike" dirty="0" err="1">
                <a:solidFill>
                  <a:srgbClr val="FFFFFF"/>
                </a:solidFill>
                <a:latin typeface="Arimo Bold"/>
                <a:ea typeface="Arimo Bold"/>
                <a:cs typeface="Arimo Bold"/>
                <a:sym typeface="Arimo Bold"/>
              </a:rPr>
              <a:t>rocheuse</a:t>
            </a:r>
            <a:r>
              <a:rPr lang="en-US" sz="2700" b="1" u="none" strike="noStrike" dirty="0">
                <a:solidFill>
                  <a:srgbClr val="FFFFFF"/>
                </a:solidFill>
                <a:latin typeface="Arimo Bold"/>
                <a:ea typeface="Arimo Bold"/>
                <a:cs typeface="Arimo Bold"/>
                <a:sym typeface="Arimo Bold"/>
              </a:rPr>
              <a:t> et </a:t>
            </a:r>
            <a:r>
              <a:rPr lang="en-US" sz="2700" b="1" u="none" strike="noStrike" dirty="0" err="1">
                <a:solidFill>
                  <a:srgbClr val="FFFFFF"/>
                </a:solidFill>
                <a:latin typeface="Arimo Bold"/>
                <a:ea typeface="Arimo Bold"/>
                <a:cs typeface="Arimo Bold"/>
                <a:sym typeface="Arimo Bold"/>
              </a:rPr>
              <a:t>glaciale</a:t>
            </a:r>
            <a:r>
              <a:rPr lang="en-US" sz="2700" b="1" u="none" strike="noStrike" dirty="0">
                <a:solidFill>
                  <a:srgbClr val="FFFFFF"/>
                </a:solidFill>
                <a:latin typeface="Arimo Bold"/>
                <a:ea typeface="Arimo Bold"/>
                <a:cs typeface="Arimo Bold"/>
                <a:sym typeface="Arimo Bold"/>
              </a:rPr>
              <a:t>. </a:t>
            </a:r>
            <a:r>
              <a:rPr lang="en-US" sz="2700" b="1" u="none" strike="noStrike" dirty="0" err="1">
                <a:solidFill>
                  <a:srgbClr val="FFFFFF"/>
                </a:solidFill>
                <a:latin typeface="Arimo Bold"/>
                <a:ea typeface="Arimo Bold"/>
                <a:cs typeface="Arimo Bold"/>
                <a:sym typeface="Arimo Bold"/>
              </a:rPr>
              <a:t>Quatrième</a:t>
            </a:r>
            <a:r>
              <a:rPr lang="en-US" sz="2700" b="1" u="none" strike="noStrike" dirty="0">
                <a:solidFill>
                  <a:srgbClr val="FFFFFF"/>
                </a:solidFill>
                <a:latin typeface="Arimo Bold"/>
                <a:ea typeface="Arimo Bold"/>
                <a:cs typeface="Arimo Bold"/>
                <a:sym typeface="Arimo Bold"/>
              </a:rPr>
              <a:t> </a:t>
            </a:r>
            <a:r>
              <a:rPr lang="en-US" sz="2700" b="1" u="none" strike="noStrike" dirty="0" err="1">
                <a:solidFill>
                  <a:srgbClr val="FFFFFF"/>
                </a:solidFill>
                <a:latin typeface="Arimo Bold"/>
                <a:ea typeface="Arimo Bold"/>
                <a:cs typeface="Arimo Bold"/>
                <a:sym typeface="Arimo Bold"/>
              </a:rPr>
              <a:t>planète</a:t>
            </a:r>
            <a:r>
              <a:rPr lang="en-US" sz="2700" b="1" u="none" strike="noStrike" dirty="0">
                <a:solidFill>
                  <a:srgbClr val="FFFFFF"/>
                </a:solidFill>
                <a:latin typeface="Arimo Bold"/>
                <a:ea typeface="Arimo Bold"/>
                <a:cs typeface="Arimo Bold"/>
                <a:sym typeface="Arimo Bold"/>
              </a:rPr>
              <a:t> du </a:t>
            </a:r>
            <a:r>
              <a:rPr lang="en-US" sz="2700" b="1" u="none" strike="noStrike" dirty="0" err="1">
                <a:solidFill>
                  <a:srgbClr val="FFFFFF"/>
                </a:solidFill>
                <a:latin typeface="Arimo Bold"/>
                <a:ea typeface="Arimo Bold"/>
                <a:cs typeface="Arimo Bold"/>
                <a:sym typeface="Arimo Bold"/>
              </a:rPr>
              <a:t>système</a:t>
            </a:r>
            <a:r>
              <a:rPr lang="en-US" sz="2700" b="1" u="none" strike="noStrike" dirty="0">
                <a:solidFill>
                  <a:srgbClr val="FFFFFF"/>
                </a:solidFill>
                <a:latin typeface="Arimo Bold"/>
                <a:ea typeface="Arimo Bold"/>
                <a:cs typeface="Arimo Bold"/>
                <a:sym typeface="Arimo Bold"/>
              </a:rPr>
              <a:t> </a:t>
            </a:r>
            <a:r>
              <a:rPr lang="en-US" sz="2700" b="1" u="none" strike="noStrike" dirty="0" err="1">
                <a:solidFill>
                  <a:srgbClr val="FFFFFF"/>
                </a:solidFill>
                <a:latin typeface="Arimo Bold"/>
                <a:ea typeface="Arimo Bold"/>
                <a:cs typeface="Arimo Bold"/>
                <a:sym typeface="Arimo Bold"/>
              </a:rPr>
              <a:t>solaire</a:t>
            </a:r>
            <a:r>
              <a:rPr lang="en-US" sz="2700" b="1" u="none" strike="noStrike" dirty="0">
                <a:solidFill>
                  <a:srgbClr val="FFFFFF"/>
                </a:solidFill>
                <a:latin typeface="Arimo Bold"/>
                <a:ea typeface="Arimo Bold"/>
                <a:cs typeface="Arimo Bold"/>
                <a:sym typeface="Arimo Bold"/>
              </a:rPr>
              <a:t>, Mars est </a:t>
            </a:r>
            <a:r>
              <a:rPr lang="en-US" sz="2700" b="1" u="none" strike="noStrike" dirty="0" err="1">
                <a:solidFill>
                  <a:srgbClr val="FFFFFF"/>
                </a:solidFill>
                <a:latin typeface="Arimo Bold"/>
                <a:ea typeface="Arimo Bold"/>
                <a:cs typeface="Arimo Bold"/>
                <a:sym typeface="Arimo Bold"/>
              </a:rPr>
              <a:t>l'une</a:t>
            </a:r>
            <a:r>
              <a:rPr lang="en-US" sz="2700" b="1" u="none" strike="noStrike" dirty="0">
                <a:solidFill>
                  <a:srgbClr val="FFFFFF"/>
                </a:solidFill>
                <a:latin typeface="Arimo Bold"/>
                <a:ea typeface="Arimo Bold"/>
                <a:cs typeface="Arimo Bold"/>
                <a:sym typeface="Arimo Bold"/>
              </a:rPr>
              <a:t> des deux </a:t>
            </a:r>
            <a:r>
              <a:rPr lang="en-US" sz="2700" b="1" u="none" strike="noStrike" dirty="0" err="1">
                <a:solidFill>
                  <a:srgbClr val="FFFFFF"/>
                </a:solidFill>
                <a:latin typeface="Arimo Bold"/>
                <a:ea typeface="Arimo Bold"/>
                <a:cs typeface="Arimo Bold"/>
                <a:sym typeface="Arimo Bold"/>
              </a:rPr>
              <a:t>planètes</a:t>
            </a:r>
            <a:r>
              <a:rPr lang="en-US" sz="2700" b="1" u="none" strike="noStrike" dirty="0">
                <a:solidFill>
                  <a:srgbClr val="FFFFFF"/>
                </a:solidFill>
                <a:latin typeface="Arimo Bold"/>
                <a:ea typeface="Arimo Bold"/>
                <a:cs typeface="Arimo Bold"/>
                <a:sym typeface="Arimo Bold"/>
              </a:rPr>
              <a:t> les plus </a:t>
            </a:r>
            <a:r>
              <a:rPr lang="en-US" sz="2700" b="1" u="none" strike="noStrike" dirty="0" err="1">
                <a:solidFill>
                  <a:srgbClr val="FFFFFF"/>
                </a:solidFill>
                <a:latin typeface="Arimo Bold"/>
                <a:ea typeface="Arimo Bold"/>
                <a:cs typeface="Arimo Bold"/>
                <a:sym typeface="Arimo Bold"/>
              </a:rPr>
              <a:t>proches</a:t>
            </a:r>
            <a:r>
              <a:rPr lang="en-US" sz="2700" b="1" u="none" strike="noStrike" dirty="0">
                <a:solidFill>
                  <a:srgbClr val="FFFFFF"/>
                </a:solidFill>
                <a:latin typeface="Arimo Bold"/>
                <a:ea typeface="Arimo Bold"/>
                <a:cs typeface="Arimo Bold"/>
                <a:sym typeface="Arimo Bold"/>
              </a:rPr>
              <a:t> de la Terre (</a:t>
            </a:r>
            <a:r>
              <a:rPr lang="en-US" sz="2700" b="1" u="none" strike="noStrike" dirty="0" err="1">
                <a:solidFill>
                  <a:srgbClr val="FFFFFF"/>
                </a:solidFill>
                <a:latin typeface="Arimo Bold"/>
                <a:ea typeface="Arimo Bold"/>
                <a:cs typeface="Arimo Bold"/>
                <a:sym typeface="Arimo Bold"/>
              </a:rPr>
              <a:t>l'autre</a:t>
            </a:r>
            <a:r>
              <a:rPr lang="en-US" sz="2700" b="1" u="none" strike="noStrike" dirty="0">
                <a:solidFill>
                  <a:srgbClr val="FFFFFF"/>
                </a:solidFill>
                <a:latin typeface="Arimo Bold"/>
                <a:ea typeface="Arimo Bold"/>
                <a:cs typeface="Arimo Bold"/>
                <a:sym typeface="Arimo Bold"/>
              </a:rPr>
              <a:t> </a:t>
            </a:r>
            <a:r>
              <a:rPr lang="en-US" sz="2700" b="1" u="none" strike="noStrike" dirty="0" err="1">
                <a:solidFill>
                  <a:srgbClr val="FFFFFF"/>
                </a:solidFill>
                <a:latin typeface="Arimo Bold"/>
                <a:ea typeface="Arimo Bold"/>
                <a:cs typeface="Arimo Bold"/>
                <a:sym typeface="Arimo Bold"/>
              </a:rPr>
              <a:t>étant</a:t>
            </a:r>
            <a:r>
              <a:rPr lang="en-US" sz="2700" b="1" u="none" strike="noStrike" dirty="0">
                <a:solidFill>
                  <a:srgbClr val="FFFFFF"/>
                </a:solidFill>
                <a:latin typeface="Arimo Bold"/>
                <a:ea typeface="Arimo Bold"/>
                <a:cs typeface="Arimo Bold"/>
                <a:sym typeface="Arimo Bold"/>
              </a:rPr>
              <a:t> Vénus). Mars est </a:t>
            </a:r>
            <a:r>
              <a:rPr lang="en-US" sz="2700" b="1" u="none" strike="noStrike" dirty="0" err="1">
                <a:solidFill>
                  <a:srgbClr val="FFFFFF"/>
                </a:solidFill>
                <a:latin typeface="Arimo Bold"/>
                <a:ea typeface="Arimo Bold"/>
                <a:cs typeface="Arimo Bold"/>
                <a:sym typeface="Arimo Bold"/>
              </a:rPr>
              <a:t>l'une</a:t>
            </a:r>
            <a:r>
              <a:rPr lang="en-US" sz="2700" b="1" u="none" strike="noStrike" dirty="0">
                <a:solidFill>
                  <a:srgbClr val="FFFFFF"/>
                </a:solidFill>
                <a:latin typeface="Arimo Bold"/>
                <a:ea typeface="Arimo Bold"/>
                <a:cs typeface="Arimo Bold"/>
                <a:sym typeface="Arimo Bold"/>
              </a:rPr>
              <a:t> des </a:t>
            </a:r>
            <a:r>
              <a:rPr lang="en-US" sz="2700" b="1" u="none" strike="noStrike" dirty="0" err="1">
                <a:solidFill>
                  <a:srgbClr val="FFFFFF"/>
                </a:solidFill>
                <a:latin typeface="Arimo Bold"/>
                <a:ea typeface="Arimo Bold"/>
                <a:cs typeface="Arimo Bold"/>
                <a:sym typeface="Arimo Bold"/>
              </a:rPr>
              <a:t>planètes</a:t>
            </a:r>
            <a:r>
              <a:rPr lang="en-US" sz="2700" b="1" u="none" strike="noStrike" dirty="0">
                <a:solidFill>
                  <a:srgbClr val="FFFFFF"/>
                </a:solidFill>
                <a:latin typeface="Arimo Bold"/>
                <a:ea typeface="Arimo Bold"/>
                <a:cs typeface="Arimo Bold"/>
                <a:sym typeface="Arimo Bold"/>
              </a:rPr>
              <a:t> les plus </a:t>
            </a:r>
            <a:r>
              <a:rPr lang="en-US" sz="2700" b="1" u="none" strike="noStrike" dirty="0" err="1">
                <a:solidFill>
                  <a:srgbClr val="FFFFFF"/>
                </a:solidFill>
                <a:latin typeface="Arimo Bold"/>
                <a:ea typeface="Arimo Bold"/>
                <a:cs typeface="Arimo Bold"/>
                <a:sym typeface="Arimo Bold"/>
              </a:rPr>
              <a:t>faciles</a:t>
            </a:r>
            <a:r>
              <a:rPr lang="en-US" sz="2700" b="1" u="none" strike="noStrike" dirty="0">
                <a:solidFill>
                  <a:srgbClr val="FFFFFF"/>
                </a:solidFill>
                <a:latin typeface="Arimo Bold"/>
                <a:ea typeface="Arimo Bold"/>
                <a:cs typeface="Arimo Bold"/>
                <a:sym typeface="Arimo Bold"/>
              </a:rPr>
              <a:t> à </a:t>
            </a:r>
            <a:r>
              <a:rPr lang="en-US" sz="2700" b="1" u="none" strike="noStrike" dirty="0" err="1">
                <a:solidFill>
                  <a:srgbClr val="FFFFFF"/>
                </a:solidFill>
                <a:latin typeface="Arimo Bold"/>
                <a:ea typeface="Arimo Bold"/>
                <a:cs typeface="Arimo Bold"/>
                <a:sym typeface="Arimo Bold"/>
              </a:rPr>
              <a:t>repérer</a:t>
            </a:r>
            <a:r>
              <a:rPr lang="en-US" sz="2700" b="1" u="none" strike="noStrike" dirty="0">
                <a:solidFill>
                  <a:srgbClr val="FFFFFF"/>
                </a:solidFill>
                <a:latin typeface="Arimo Bold"/>
                <a:ea typeface="Arimo Bold"/>
                <a:cs typeface="Arimo Bold"/>
                <a:sym typeface="Arimo Bold"/>
              </a:rPr>
              <a:t> dans le </a:t>
            </a:r>
            <a:r>
              <a:rPr lang="en-US" sz="2700" b="1" u="none" strike="noStrike" dirty="0" err="1">
                <a:solidFill>
                  <a:srgbClr val="FFFFFF"/>
                </a:solidFill>
                <a:latin typeface="Arimo Bold"/>
                <a:ea typeface="Arimo Bold"/>
                <a:cs typeface="Arimo Bold"/>
                <a:sym typeface="Arimo Bold"/>
              </a:rPr>
              <a:t>ciel</a:t>
            </a:r>
            <a:r>
              <a:rPr lang="en-US" sz="2700" b="1" u="none" strike="noStrike" dirty="0">
                <a:solidFill>
                  <a:srgbClr val="FFFFFF"/>
                </a:solidFill>
                <a:latin typeface="Arimo Bold"/>
                <a:ea typeface="Arimo Bold"/>
                <a:cs typeface="Arimo Bold"/>
                <a:sym typeface="Arimo Bold"/>
              </a:rPr>
              <a:t> nocturne : </a:t>
            </a:r>
            <a:r>
              <a:rPr lang="en-US" sz="2700" b="1" u="none" strike="noStrike" dirty="0" err="1">
                <a:solidFill>
                  <a:srgbClr val="FFFFFF"/>
                </a:solidFill>
                <a:latin typeface="Arimo Bold"/>
                <a:ea typeface="Arimo Bold"/>
                <a:cs typeface="Arimo Bold"/>
                <a:sym typeface="Arimo Bold"/>
              </a:rPr>
              <a:t>elle</a:t>
            </a:r>
            <a:r>
              <a:rPr lang="en-US" sz="2700" b="1" u="none" strike="noStrike" dirty="0">
                <a:solidFill>
                  <a:srgbClr val="FFFFFF"/>
                </a:solidFill>
                <a:latin typeface="Arimo Bold"/>
                <a:ea typeface="Arimo Bold"/>
                <a:cs typeface="Arimo Bold"/>
                <a:sym typeface="Arimo Bold"/>
              </a:rPr>
              <a:t> </a:t>
            </a:r>
            <a:r>
              <a:rPr lang="en-US" sz="2700" b="1" u="none" strike="noStrike" dirty="0" err="1">
                <a:solidFill>
                  <a:srgbClr val="FFFFFF"/>
                </a:solidFill>
                <a:latin typeface="Arimo Bold"/>
                <a:ea typeface="Arimo Bold"/>
                <a:cs typeface="Arimo Bold"/>
                <a:sym typeface="Arimo Bold"/>
              </a:rPr>
              <a:t>ressemble</a:t>
            </a:r>
            <a:r>
              <a:rPr lang="en-US" sz="2700" b="1" u="none" strike="noStrike" dirty="0">
                <a:solidFill>
                  <a:srgbClr val="FFFFFF"/>
                </a:solidFill>
                <a:latin typeface="Arimo Bold"/>
                <a:ea typeface="Arimo Bold"/>
                <a:cs typeface="Arimo Bold"/>
                <a:sym typeface="Arimo Bold"/>
              </a:rPr>
              <a:t> à un point </a:t>
            </a:r>
            <a:r>
              <a:rPr lang="en-US" sz="2700" b="1" u="none" strike="noStrike" dirty="0" err="1">
                <a:solidFill>
                  <a:srgbClr val="FFFFFF"/>
                </a:solidFill>
                <a:latin typeface="Arimo Bold"/>
                <a:ea typeface="Arimo Bold"/>
                <a:cs typeface="Arimo Bold"/>
                <a:sym typeface="Arimo Bold"/>
              </a:rPr>
              <a:t>lumineux</a:t>
            </a:r>
            <a:r>
              <a:rPr lang="en-US" sz="2700" b="1" u="none" strike="noStrike" dirty="0">
                <a:solidFill>
                  <a:srgbClr val="FFFFFF"/>
                </a:solidFill>
                <a:latin typeface="Arimo Bold"/>
                <a:ea typeface="Arimo Bold"/>
                <a:cs typeface="Arimo Bold"/>
                <a:sym typeface="Arimo Bold"/>
              </a:rPr>
              <a:t> rouge </a:t>
            </a:r>
            <a:r>
              <a:rPr lang="en-US" sz="2700" b="1" u="none" strike="noStrike" dirty="0" err="1">
                <a:solidFill>
                  <a:srgbClr val="FFFFFF"/>
                </a:solidFill>
                <a:latin typeface="Arimo Bold"/>
                <a:ea typeface="Arimo Bold"/>
                <a:cs typeface="Arimo Bold"/>
                <a:sym typeface="Arimo Bold"/>
              </a:rPr>
              <a:t>vif</a:t>
            </a:r>
            <a:r>
              <a:rPr lang="en-US" sz="2700" b="1" u="none" strike="noStrike" dirty="0">
                <a:solidFill>
                  <a:srgbClr val="FFFFFF"/>
                </a:solidFill>
                <a:latin typeface="Arimo Bold"/>
                <a:ea typeface="Arimo Bold"/>
                <a:cs typeface="Arimo Bold"/>
                <a:sym typeface="Arimo Bold"/>
              </a:rPr>
              <a:t>.</a:t>
            </a:r>
          </a:p>
        </p:txBody>
      </p:sp>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982" b="-3982"/>
            </a:stretch>
          </a:blipFill>
        </p:spPr>
        <p:txBody>
          <a:bodyPr/>
          <a:lstStyle/>
          <a:p>
            <a:endParaRPr lang="fr-MA"/>
          </a:p>
        </p:txBody>
      </p:sp>
      <p:sp>
        <p:nvSpPr>
          <p:cNvPr id="3" name="TextBox 3"/>
          <p:cNvSpPr txBox="1"/>
          <p:nvPr/>
        </p:nvSpPr>
        <p:spPr>
          <a:xfrm>
            <a:off x="6162080" y="1009650"/>
            <a:ext cx="5963841" cy="742950"/>
          </a:xfrm>
          <a:prstGeom prst="rect">
            <a:avLst/>
          </a:prstGeom>
        </p:spPr>
        <p:txBody>
          <a:bodyPr lIns="0" tIns="0" rIns="0" bIns="0" rtlCol="0" anchor="t">
            <a:spAutoFit/>
          </a:bodyPr>
          <a:lstStyle/>
          <a:p>
            <a:pPr marL="0" lvl="0" indent="0" algn="ctr">
              <a:lnSpc>
                <a:spcPts val="5759"/>
              </a:lnSpc>
              <a:spcBef>
                <a:spcPct val="0"/>
              </a:spcBef>
            </a:pPr>
            <a:r>
              <a:rPr lang="en-US" sz="4800" u="none" strike="noStrike">
                <a:solidFill>
                  <a:srgbClr val="FFFFFF"/>
                </a:solidFill>
                <a:latin typeface="Arimo"/>
                <a:ea typeface="Arimo"/>
                <a:cs typeface="Arimo"/>
                <a:sym typeface="Arimo"/>
              </a:rPr>
              <a:t> Ceinture d’astéroïdes</a:t>
            </a:r>
          </a:p>
        </p:txBody>
      </p:sp>
      <p:sp>
        <p:nvSpPr>
          <p:cNvPr id="4" name="TextBox 4"/>
          <p:cNvSpPr txBox="1"/>
          <p:nvPr/>
        </p:nvSpPr>
        <p:spPr>
          <a:xfrm>
            <a:off x="10969858" y="2856226"/>
            <a:ext cx="6750292" cy="1581150"/>
          </a:xfrm>
          <a:prstGeom prst="rect">
            <a:avLst/>
          </a:prstGeom>
        </p:spPr>
        <p:txBody>
          <a:bodyPr lIns="0" tIns="0" rIns="0" bIns="0" rtlCol="0" anchor="t">
            <a:spAutoFit/>
          </a:bodyPr>
          <a:lstStyle/>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Elle se trouve entre Mars et Jupiter</a:t>
            </a:r>
          </a:p>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Elle contient des milliers d’astéroïdes</a:t>
            </a:r>
          </a:p>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Ce sont des roches de tailles différentes</a:t>
            </a:r>
          </a:p>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Les scientifiques l’étudient pour comprendre la formation des planètes</a:t>
            </a:r>
          </a:p>
        </p:txBody>
      </p:sp>
      <p:sp>
        <p:nvSpPr>
          <p:cNvPr id="5" name="TextBox 5"/>
          <p:cNvSpPr txBox="1"/>
          <p:nvPr/>
        </p:nvSpPr>
        <p:spPr>
          <a:xfrm>
            <a:off x="0" y="7600950"/>
            <a:ext cx="18288000" cy="1657350"/>
          </a:xfrm>
          <a:prstGeom prst="rect">
            <a:avLst/>
          </a:prstGeom>
        </p:spPr>
        <p:txBody>
          <a:bodyPr lIns="0" tIns="0" rIns="0" bIns="0" rtlCol="0" anchor="t">
            <a:spAutoFit/>
          </a:bodyPr>
          <a:lstStyle/>
          <a:p>
            <a:pPr marL="0" lvl="0" indent="0" algn="l">
              <a:lnSpc>
                <a:spcPts val="3240"/>
              </a:lnSpc>
              <a:spcBef>
                <a:spcPct val="0"/>
              </a:spcBef>
            </a:pPr>
            <a:r>
              <a:rPr lang="en-US" sz="2700" b="1" u="none" strike="noStrike">
                <a:solidFill>
                  <a:srgbClr val="FFFFFF"/>
                </a:solidFill>
                <a:latin typeface="Arimo Bold"/>
                <a:ea typeface="Arimo Bold"/>
                <a:cs typeface="Arimo Bold"/>
                <a:sym typeface="Arimo Bold"/>
              </a:rPr>
              <a:t>La ceinture principale d'astéroïdes (parfois simplement ceinture d'astéroïdes ou ceinture principale[a]) est une formation du système solaire située entre les orbites de Mars et de Jupiter. Vestige du disque protoplanétaire de la nébuleuse solaire, elle est composée d'une grande quantité d'astéroïdes qui ne se sont pas agrégés en planète[1]. Le plus gros d'entre-eux, Cérès, est catégorisé comme planète naine depuis 2006.</a:t>
            </a:r>
          </a:p>
        </p:txBody>
      </p:sp>
      <p:sp>
        <p:nvSpPr>
          <p:cNvPr id="6" name="TextBox 6"/>
          <p:cNvSpPr txBox="1"/>
          <p:nvPr/>
        </p:nvSpPr>
        <p:spPr>
          <a:xfrm>
            <a:off x="4649260" y="4418326"/>
            <a:ext cx="5056178" cy="425136"/>
          </a:xfrm>
          <a:prstGeom prst="rect">
            <a:avLst/>
          </a:prstGeom>
        </p:spPr>
        <p:txBody>
          <a:bodyPr lIns="0" tIns="0" rIns="0" bIns="0" rtlCol="0" anchor="t">
            <a:spAutoFit/>
          </a:bodyPr>
          <a:lstStyle/>
          <a:p>
            <a:pPr algn="ctr">
              <a:lnSpc>
                <a:spcPts val="3255"/>
              </a:lnSpc>
              <a:spcBef>
                <a:spcPct val="0"/>
              </a:spcBef>
            </a:pPr>
            <a:r>
              <a:rPr lang="en-US" sz="2713">
                <a:gradFill>
                  <a:gsLst>
                    <a:gs pos="0">
                      <a:srgbClr val="9358F7">
                        <a:alpha val="100000"/>
                      </a:srgbClr>
                    </a:gs>
                    <a:gs pos="50000">
                      <a:srgbClr val="6197EE">
                        <a:alpha val="100000"/>
                      </a:srgbClr>
                    </a:gs>
                    <a:gs pos="100000">
                      <a:srgbClr val="10D7E2">
                        <a:alpha val="100000"/>
                      </a:srgbClr>
                    </a:gs>
                  </a:gsLst>
                  <a:lin ang="18900000"/>
                </a:gradFill>
                <a:latin typeface="Arimo"/>
                <a:ea typeface="Arimo"/>
                <a:cs typeface="Arimo"/>
                <a:sym typeface="Arimo"/>
              </a:rPr>
              <a:t>Ceinture d’astéroïdes = roches 🪨</a:t>
            </a:r>
          </a:p>
        </p:txBody>
      </p:sp>
      <p:sp>
        <p:nvSpPr>
          <p:cNvPr id="7" name="TextBox 7"/>
          <p:cNvSpPr txBox="1"/>
          <p:nvPr/>
        </p:nvSpPr>
        <p:spPr>
          <a:xfrm>
            <a:off x="15491823" y="9248775"/>
            <a:ext cx="2526804" cy="638175"/>
          </a:xfrm>
          <a:prstGeom prst="rect">
            <a:avLst/>
          </a:prstGeom>
        </p:spPr>
        <p:txBody>
          <a:bodyPr lIns="0" tIns="0" rIns="0" bIns="0" rtlCol="0" anchor="t">
            <a:spAutoFit/>
          </a:bodyPr>
          <a:lstStyle/>
          <a:p>
            <a:pPr marL="0" lvl="0" indent="0" algn="l">
              <a:lnSpc>
                <a:spcPts val="2520"/>
              </a:lnSpc>
              <a:spcBef>
                <a:spcPct val="0"/>
              </a:spcBef>
            </a:pPr>
            <a:endParaRPr/>
          </a:p>
          <a:p>
            <a:pPr marL="0" lvl="0" indent="0" algn="l">
              <a:lnSpc>
                <a:spcPts val="2520"/>
              </a:lnSpc>
              <a:spcBef>
                <a:spcPct val="0"/>
              </a:spcBef>
            </a:pPr>
            <a:r>
              <a:rPr lang="en-US" sz="2100" u="sng" strike="noStrike">
                <a:solidFill>
                  <a:srgbClr val="83F6FF"/>
                </a:solidFill>
                <a:latin typeface="Arimo"/>
                <a:ea typeface="Arimo"/>
                <a:cs typeface="Arimo"/>
                <a:sym typeface="Arimo"/>
              </a:rPr>
              <a:t>Ceinture d'astéroïdes</a:t>
            </a:r>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fr-MA"/>
          </a:p>
        </p:txBody>
      </p:sp>
      <p:pic>
        <p:nvPicPr>
          <p:cNvPr id="3" name="Picture 3"/>
          <p:cNvPicPr>
            <a:picLocks noChangeAspect="1"/>
          </p:cNvPicPr>
          <p:nvPr/>
        </p:nvPicPr>
        <p:blipFill>
          <a:blip r:embed="rId3"/>
          <a:stretch>
            <a:fillRect/>
          </a:stretch>
        </p:blipFill>
        <p:spPr>
          <a:xfrm>
            <a:off x="504404" y="3815904"/>
            <a:ext cx="2629815" cy="2637624"/>
          </a:xfrm>
          <a:prstGeom prst="rect">
            <a:avLst/>
          </a:prstGeom>
        </p:spPr>
      </p:pic>
      <p:sp>
        <p:nvSpPr>
          <p:cNvPr id="4" name="TextBox 4"/>
          <p:cNvSpPr txBox="1"/>
          <p:nvPr/>
        </p:nvSpPr>
        <p:spPr>
          <a:xfrm>
            <a:off x="514350" y="8639394"/>
            <a:ext cx="17259300" cy="838200"/>
          </a:xfrm>
          <a:prstGeom prst="rect">
            <a:avLst/>
          </a:prstGeom>
        </p:spPr>
        <p:txBody>
          <a:bodyPr lIns="0" tIns="0" rIns="0" bIns="0" rtlCol="0" anchor="t">
            <a:spAutoFit/>
          </a:bodyPr>
          <a:lstStyle/>
          <a:p>
            <a:pPr marL="0" lvl="0" indent="0" algn="l">
              <a:lnSpc>
                <a:spcPts val="3240"/>
              </a:lnSpc>
              <a:spcBef>
                <a:spcPct val="0"/>
              </a:spcBef>
            </a:pPr>
            <a:r>
              <a:rPr lang="en-US" sz="2700" b="1" u="none" strike="noStrike" dirty="0">
                <a:solidFill>
                  <a:srgbClr val="FFFFFF"/>
                </a:solidFill>
                <a:latin typeface="Arimo Bold"/>
                <a:ea typeface="Arimo Bold"/>
                <a:cs typeface="Arimo Bold"/>
                <a:sym typeface="Arimo Bold"/>
              </a:rPr>
              <a:t>Jupiter est la </a:t>
            </a:r>
            <a:r>
              <a:rPr lang="en-US" sz="2700" b="1" u="none" strike="noStrike" dirty="0" err="1">
                <a:solidFill>
                  <a:srgbClr val="FFFFFF"/>
                </a:solidFill>
                <a:latin typeface="Arimo Bold"/>
                <a:ea typeface="Arimo Bold"/>
                <a:cs typeface="Arimo Bold"/>
                <a:sym typeface="Arimo Bold"/>
              </a:rPr>
              <a:t>cinquième</a:t>
            </a:r>
            <a:r>
              <a:rPr lang="en-US" sz="2700" b="1" u="none" strike="noStrike" dirty="0">
                <a:solidFill>
                  <a:srgbClr val="FFFFFF"/>
                </a:solidFill>
                <a:latin typeface="Arimo Bold"/>
                <a:ea typeface="Arimo Bold"/>
                <a:cs typeface="Arimo Bold"/>
                <a:sym typeface="Arimo Bold"/>
              </a:rPr>
              <a:t> </a:t>
            </a:r>
            <a:r>
              <a:rPr lang="en-US" sz="2700" b="1" u="none" strike="noStrike" dirty="0" err="1">
                <a:solidFill>
                  <a:srgbClr val="FFFFFF"/>
                </a:solidFill>
                <a:latin typeface="Arimo Bold"/>
                <a:ea typeface="Arimo Bold"/>
                <a:cs typeface="Arimo Bold"/>
                <a:sym typeface="Arimo Bold"/>
              </a:rPr>
              <a:t>planète</a:t>
            </a:r>
            <a:r>
              <a:rPr lang="en-US" sz="2700" b="1" u="none" strike="noStrike" dirty="0">
                <a:solidFill>
                  <a:srgbClr val="FFFFFF"/>
                </a:solidFill>
                <a:latin typeface="Arimo Bold"/>
                <a:ea typeface="Arimo Bold"/>
                <a:cs typeface="Arimo Bold"/>
                <a:sym typeface="Arimo Bold"/>
              </a:rPr>
              <a:t> à </a:t>
            </a:r>
            <a:r>
              <a:rPr lang="en-US" sz="2700" b="1" u="none" strike="noStrike" dirty="0" err="1">
                <a:solidFill>
                  <a:srgbClr val="FFFFFF"/>
                </a:solidFill>
                <a:latin typeface="Arimo Bold"/>
                <a:ea typeface="Arimo Bold"/>
                <a:cs typeface="Arimo Bold"/>
                <a:sym typeface="Arimo Bold"/>
              </a:rPr>
              <a:t>partir</a:t>
            </a:r>
            <a:r>
              <a:rPr lang="en-US" sz="2700" b="1" u="none" strike="noStrike" dirty="0">
                <a:solidFill>
                  <a:srgbClr val="FFFFFF"/>
                </a:solidFill>
                <a:latin typeface="Arimo Bold"/>
                <a:ea typeface="Arimo Bold"/>
                <a:cs typeface="Arimo Bold"/>
                <a:sym typeface="Arimo Bold"/>
              </a:rPr>
              <a:t> de </a:t>
            </a:r>
            <a:r>
              <a:rPr lang="en-US" sz="2700" b="1" u="none" strike="noStrike" dirty="0" err="1">
                <a:solidFill>
                  <a:srgbClr val="FFFFFF"/>
                </a:solidFill>
                <a:latin typeface="Arimo Bold"/>
                <a:ea typeface="Arimo Bold"/>
                <a:cs typeface="Arimo Bold"/>
                <a:sym typeface="Arimo Bold"/>
              </a:rPr>
              <a:t>notre</a:t>
            </a:r>
            <a:r>
              <a:rPr lang="en-US" sz="2700" b="1" u="none" strike="noStrike" dirty="0">
                <a:solidFill>
                  <a:srgbClr val="FFFFFF"/>
                </a:solidFill>
                <a:latin typeface="Arimo Bold"/>
                <a:ea typeface="Arimo Bold"/>
                <a:cs typeface="Arimo Bold"/>
                <a:sym typeface="Arimo Bold"/>
              </a:rPr>
              <a:t> Soleil et est, de loin, la plus grande </a:t>
            </a:r>
            <a:r>
              <a:rPr lang="en-US" sz="2700" b="1" u="none" strike="noStrike" dirty="0" err="1">
                <a:solidFill>
                  <a:srgbClr val="FFFFFF"/>
                </a:solidFill>
                <a:latin typeface="Arimo Bold"/>
                <a:ea typeface="Arimo Bold"/>
                <a:cs typeface="Arimo Bold"/>
                <a:sym typeface="Arimo Bold"/>
              </a:rPr>
              <a:t>planète</a:t>
            </a:r>
            <a:r>
              <a:rPr lang="en-US" sz="2700" b="1" u="none" strike="noStrike" dirty="0">
                <a:solidFill>
                  <a:srgbClr val="FFFFFF"/>
                </a:solidFill>
                <a:latin typeface="Arimo Bold"/>
                <a:ea typeface="Arimo Bold"/>
                <a:cs typeface="Arimo Bold"/>
                <a:sym typeface="Arimo Bold"/>
              </a:rPr>
              <a:t> du </a:t>
            </a:r>
            <a:r>
              <a:rPr lang="en-US" sz="2700" b="1" u="none" strike="noStrike" dirty="0" err="1">
                <a:solidFill>
                  <a:srgbClr val="FFFFFF"/>
                </a:solidFill>
                <a:latin typeface="Arimo Bold"/>
                <a:ea typeface="Arimo Bold"/>
                <a:cs typeface="Arimo Bold"/>
                <a:sym typeface="Arimo Bold"/>
              </a:rPr>
              <a:t>système</a:t>
            </a:r>
            <a:r>
              <a:rPr lang="en-US" sz="2700" b="1" u="none" strike="noStrike" dirty="0">
                <a:solidFill>
                  <a:srgbClr val="FFFFFF"/>
                </a:solidFill>
                <a:latin typeface="Arimo Bold"/>
                <a:ea typeface="Arimo Bold"/>
                <a:cs typeface="Arimo Bold"/>
                <a:sym typeface="Arimo Bold"/>
              </a:rPr>
              <a:t> </a:t>
            </a:r>
            <a:r>
              <a:rPr lang="en-US" sz="2700" b="1" u="none" strike="noStrike" dirty="0" err="1">
                <a:solidFill>
                  <a:srgbClr val="FFFFFF"/>
                </a:solidFill>
                <a:latin typeface="Arimo Bold"/>
                <a:ea typeface="Arimo Bold"/>
                <a:cs typeface="Arimo Bold"/>
                <a:sym typeface="Arimo Bold"/>
              </a:rPr>
              <a:t>solaire</a:t>
            </a:r>
            <a:r>
              <a:rPr lang="en-US" sz="2700" b="1" u="none" strike="noStrike" dirty="0">
                <a:solidFill>
                  <a:srgbClr val="FFFFFF"/>
                </a:solidFill>
                <a:latin typeface="Arimo Bold"/>
                <a:ea typeface="Arimo Bold"/>
                <a:cs typeface="Arimo Bold"/>
                <a:sym typeface="Arimo Bold"/>
              </a:rPr>
              <a:t> – plus de deux </a:t>
            </a:r>
            <a:r>
              <a:rPr lang="en-US" sz="2700" b="1" u="none" strike="noStrike" dirty="0" err="1">
                <a:solidFill>
                  <a:srgbClr val="FFFFFF"/>
                </a:solidFill>
                <a:latin typeface="Arimo Bold"/>
                <a:ea typeface="Arimo Bold"/>
                <a:cs typeface="Arimo Bold"/>
                <a:sym typeface="Arimo Bold"/>
              </a:rPr>
              <a:t>fois</a:t>
            </a:r>
            <a:r>
              <a:rPr lang="en-US" sz="2700" b="1" u="none" strike="noStrike" dirty="0">
                <a:solidFill>
                  <a:srgbClr val="FFFFFF"/>
                </a:solidFill>
                <a:latin typeface="Arimo Bold"/>
                <a:ea typeface="Arimo Bold"/>
                <a:cs typeface="Arimo Bold"/>
                <a:sym typeface="Arimo Bold"/>
              </a:rPr>
              <a:t> plus massive </a:t>
            </a:r>
            <a:r>
              <a:rPr lang="en-US" sz="2700" b="1" u="none" strike="noStrike" dirty="0" err="1">
                <a:solidFill>
                  <a:srgbClr val="FFFFFF"/>
                </a:solidFill>
                <a:latin typeface="Arimo Bold"/>
                <a:ea typeface="Arimo Bold"/>
                <a:cs typeface="Arimo Bold"/>
                <a:sym typeface="Arimo Bold"/>
              </a:rPr>
              <a:t>que</a:t>
            </a:r>
            <a:r>
              <a:rPr lang="en-US" sz="2700" b="1" u="none" strike="noStrike" dirty="0">
                <a:solidFill>
                  <a:srgbClr val="FFFFFF"/>
                </a:solidFill>
                <a:latin typeface="Arimo Bold"/>
                <a:ea typeface="Arimo Bold"/>
                <a:cs typeface="Arimo Bold"/>
                <a:sym typeface="Arimo Bold"/>
              </a:rPr>
              <a:t> </a:t>
            </a:r>
            <a:r>
              <a:rPr lang="en-US" sz="2700" b="1" u="none" strike="noStrike" dirty="0" err="1">
                <a:solidFill>
                  <a:srgbClr val="FFFFFF"/>
                </a:solidFill>
                <a:latin typeface="Arimo Bold"/>
                <a:ea typeface="Arimo Bold"/>
                <a:cs typeface="Arimo Bold"/>
                <a:sym typeface="Arimo Bold"/>
              </a:rPr>
              <a:t>toutes</a:t>
            </a:r>
            <a:r>
              <a:rPr lang="en-US" sz="2700" b="1" u="none" strike="noStrike" dirty="0">
                <a:solidFill>
                  <a:srgbClr val="FFFFFF"/>
                </a:solidFill>
                <a:latin typeface="Arimo Bold"/>
                <a:ea typeface="Arimo Bold"/>
                <a:cs typeface="Arimo Bold"/>
                <a:sym typeface="Arimo Bold"/>
              </a:rPr>
              <a:t> les </a:t>
            </a:r>
            <a:r>
              <a:rPr lang="en-US" sz="2700" b="1" u="none" strike="noStrike" dirty="0" err="1">
                <a:solidFill>
                  <a:srgbClr val="FFFFFF"/>
                </a:solidFill>
                <a:latin typeface="Arimo Bold"/>
                <a:ea typeface="Arimo Bold"/>
                <a:cs typeface="Arimo Bold"/>
                <a:sym typeface="Arimo Bold"/>
              </a:rPr>
              <a:t>autres</a:t>
            </a:r>
            <a:r>
              <a:rPr lang="en-US" sz="2700" b="1" u="none" strike="noStrike" dirty="0">
                <a:solidFill>
                  <a:srgbClr val="FFFFFF"/>
                </a:solidFill>
                <a:latin typeface="Arimo Bold"/>
                <a:ea typeface="Arimo Bold"/>
                <a:cs typeface="Arimo Bold"/>
                <a:sym typeface="Arimo Bold"/>
              </a:rPr>
              <a:t> </a:t>
            </a:r>
            <a:r>
              <a:rPr lang="en-US" sz="2700" b="1" u="none" strike="noStrike" dirty="0" err="1">
                <a:solidFill>
                  <a:srgbClr val="FFFFFF"/>
                </a:solidFill>
                <a:latin typeface="Arimo Bold"/>
                <a:ea typeface="Arimo Bold"/>
                <a:cs typeface="Arimo Bold"/>
                <a:sym typeface="Arimo Bold"/>
              </a:rPr>
              <a:t>planètes</a:t>
            </a:r>
            <a:r>
              <a:rPr lang="en-US" sz="2700" b="1" u="none" strike="noStrike" dirty="0">
                <a:solidFill>
                  <a:srgbClr val="FFFFFF"/>
                </a:solidFill>
                <a:latin typeface="Arimo Bold"/>
                <a:ea typeface="Arimo Bold"/>
                <a:cs typeface="Arimo Bold"/>
                <a:sym typeface="Arimo Bold"/>
              </a:rPr>
              <a:t> </a:t>
            </a:r>
            <a:r>
              <a:rPr lang="en-US" sz="2700" b="1" u="none" strike="noStrike" dirty="0" err="1">
                <a:solidFill>
                  <a:srgbClr val="FFFFFF"/>
                </a:solidFill>
                <a:latin typeface="Arimo Bold"/>
                <a:ea typeface="Arimo Bold"/>
                <a:cs typeface="Arimo Bold"/>
                <a:sym typeface="Arimo Bold"/>
              </a:rPr>
              <a:t>réunies</a:t>
            </a:r>
            <a:r>
              <a:rPr lang="en-US" sz="2700" b="1" u="none" strike="noStrike" dirty="0">
                <a:solidFill>
                  <a:srgbClr val="FFFFFF"/>
                </a:solidFill>
                <a:latin typeface="Arimo Bold"/>
                <a:ea typeface="Arimo Bold"/>
                <a:cs typeface="Arimo Bold"/>
                <a:sym typeface="Arimo Bold"/>
              </a:rPr>
              <a:t>.</a:t>
            </a:r>
          </a:p>
        </p:txBody>
      </p:sp>
      <p:sp>
        <p:nvSpPr>
          <p:cNvPr id="5" name="TextBox 5"/>
          <p:cNvSpPr txBox="1"/>
          <p:nvPr/>
        </p:nvSpPr>
        <p:spPr>
          <a:xfrm>
            <a:off x="8007159" y="1009650"/>
            <a:ext cx="1829693" cy="742950"/>
          </a:xfrm>
          <a:prstGeom prst="rect">
            <a:avLst/>
          </a:prstGeom>
        </p:spPr>
        <p:txBody>
          <a:bodyPr lIns="0" tIns="0" rIns="0" bIns="0" rtlCol="0" anchor="t">
            <a:spAutoFit/>
          </a:bodyPr>
          <a:lstStyle/>
          <a:p>
            <a:pPr marL="0" lvl="0" indent="0" algn="ctr">
              <a:lnSpc>
                <a:spcPts val="5759"/>
              </a:lnSpc>
              <a:spcBef>
                <a:spcPct val="0"/>
              </a:spcBef>
            </a:pPr>
            <a:r>
              <a:rPr lang="en-US" sz="4800" u="none" strike="noStrike">
                <a:solidFill>
                  <a:srgbClr val="FFFFFF"/>
                </a:solidFill>
                <a:latin typeface="Arimo"/>
                <a:ea typeface="Arimo"/>
                <a:cs typeface="Arimo"/>
                <a:sym typeface="Arimo"/>
              </a:rPr>
              <a:t>Jupiter</a:t>
            </a:r>
          </a:p>
        </p:txBody>
      </p:sp>
      <p:sp>
        <p:nvSpPr>
          <p:cNvPr id="6" name="TextBox 6"/>
          <p:cNvSpPr txBox="1"/>
          <p:nvPr/>
        </p:nvSpPr>
        <p:spPr>
          <a:xfrm>
            <a:off x="16896085" y="9658350"/>
            <a:ext cx="726430" cy="323850"/>
          </a:xfrm>
          <a:prstGeom prst="rect">
            <a:avLst/>
          </a:prstGeom>
        </p:spPr>
        <p:txBody>
          <a:bodyPr lIns="0" tIns="0" rIns="0" bIns="0" rtlCol="0" anchor="t">
            <a:spAutoFit/>
          </a:bodyPr>
          <a:lstStyle/>
          <a:p>
            <a:pPr marL="0" lvl="0" indent="0" algn="l">
              <a:lnSpc>
                <a:spcPts val="2520"/>
              </a:lnSpc>
              <a:spcBef>
                <a:spcPct val="0"/>
              </a:spcBef>
            </a:pPr>
            <a:r>
              <a:rPr lang="en-US" sz="2100" u="sng" strike="noStrike">
                <a:solidFill>
                  <a:srgbClr val="83F6FF"/>
                </a:solidFill>
                <a:latin typeface="Arimo"/>
                <a:ea typeface="Arimo"/>
                <a:cs typeface="Arimo"/>
                <a:sym typeface="Arimo"/>
                <a:hlinkClick r:id="rId4" tooltip="https://science.nasa.gov/jupiter/"/>
              </a:rPr>
              <a:t>jupiter</a:t>
            </a:r>
          </a:p>
        </p:txBody>
      </p:sp>
      <p:sp>
        <p:nvSpPr>
          <p:cNvPr id="7" name="TextBox 7"/>
          <p:cNvSpPr txBox="1"/>
          <p:nvPr/>
        </p:nvSpPr>
        <p:spPr>
          <a:xfrm>
            <a:off x="13530560" y="1935132"/>
            <a:ext cx="4091955" cy="952500"/>
          </a:xfrm>
          <a:prstGeom prst="rect">
            <a:avLst/>
          </a:prstGeom>
        </p:spPr>
        <p:txBody>
          <a:bodyPr lIns="0" tIns="0" rIns="0" bIns="0" rtlCol="0" anchor="t">
            <a:spAutoFit/>
          </a:bodyPr>
          <a:lstStyle/>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La plus grande planète</a:t>
            </a:r>
          </a:p>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Une grande tempête (tache rouge)</a:t>
            </a:r>
          </a:p>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Beaucoup de lunes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0"/>
            <a:ext cx="19316700" cy="10287000"/>
          </a:xfrm>
          <a:custGeom>
            <a:avLst/>
            <a:gdLst/>
            <a:ahLst/>
            <a:cxnLst/>
            <a:rect l="l" t="t" r="r" b="b"/>
            <a:pathLst>
              <a:path w="19316700" h="10287000">
                <a:moveTo>
                  <a:pt x="0" y="0"/>
                </a:moveTo>
                <a:lnTo>
                  <a:pt x="19316700" y="0"/>
                </a:lnTo>
                <a:lnTo>
                  <a:pt x="19316700" y="10287000"/>
                </a:lnTo>
                <a:lnTo>
                  <a:pt x="0" y="10287000"/>
                </a:lnTo>
                <a:lnTo>
                  <a:pt x="0" y="0"/>
                </a:lnTo>
                <a:close/>
              </a:path>
            </a:pathLst>
          </a:custGeom>
          <a:blipFill>
            <a:blip r:embed="rId2"/>
            <a:stretch>
              <a:fillRect l="-33209" r="-26553"/>
            </a:stretch>
          </a:blipFill>
        </p:spPr>
        <p:txBody>
          <a:bodyPr/>
          <a:lstStyle/>
          <a:p>
            <a:endParaRPr lang="fr-MA"/>
          </a:p>
        </p:txBody>
      </p:sp>
      <p:pic>
        <p:nvPicPr>
          <p:cNvPr id="3" name="Picture 3"/>
          <p:cNvPicPr>
            <a:picLocks noChangeAspect="1"/>
          </p:cNvPicPr>
          <p:nvPr/>
        </p:nvPicPr>
        <p:blipFill>
          <a:blip r:embed="rId3"/>
          <a:stretch>
            <a:fillRect/>
          </a:stretch>
        </p:blipFill>
        <p:spPr>
          <a:xfrm>
            <a:off x="-47898" y="3101517"/>
            <a:ext cx="5379197" cy="2734967"/>
          </a:xfrm>
          <a:prstGeom prst="rect">
            <a:avLst/>
          </a:prstGeom>
        </p:spPr>
      </p:pic>
      <p:sp>
        <p:nvSpPr>
          <p:cNvPr id="4" name="TextBox 4"/>
          <p:cNvSpPr txBox="1"/>
          <p:nvPr/>
        </p:nvSpPr>
        <p:spPr>
          <a:xfrm>
            <a:off x="8076456" y="695325"/>
            <a:ext cx="2135088" cy="742950"/>
          </a:xfrm>
          <a:prstGeom prst="rect">
            <a:avLst/>
          </a:prstGeom>
        </p:spPr>
        <p:txBody>
          <a:bodyPr lIns="0" tIns="0" rIns="0" bIns="0" rtlCol="0" anchor="t">
            <a:spAutoFit/>
          </a:bodyPr>
          <a:lstStyle/>
          <a:p>
            <a:pPr marL="0" lvl="0" indent="0" algn="ctr">
              <a:lnSpc>
                <a:spcPts val="5759"/>
              </a:lnSpc>
              <a:spcBef>
                <a:spcPct val="0"/>
              </a:spcBef>
            </a:pPr>
            <a:r>
              <a:rPr lang="en-US" sz="4800">
                <a:solidFill>
                  <a:srgbClr val="FFFFFF"/>
                </a:solidFill>
                <a:latin typeface="Arimo"/>
                <a:ea typeface="Arimo"/>
                <a:cs typeface="Arimo"/>
                <a:sym typeface="Arimo"/>
              </a:rPr>
              <a:t>Saturne</a:t>
            </a:r>
          </a:p>
        </p:txBody>
      </p:sp>
      <p:sp>
        <p:nvSpPr>
          <p:cNvPr id="5" name="TextBox 5"/>
          <p:cNvSpPr txBox="1"/>
          <p:nvPr/>
        </p:nvSpPr>
        <p:spPr>
          <a:xfrm>
            <a:off x="14056766" y="2815063"/>
            <a:ext cx="3494112" cy="952500"/>
          </a:xfrm>
          <a:prstGeom prst="rect">
            <a:avLst/>
          </a:prstGeom>
        </p:spPr>
        <p:txBody>
          <a:bodyPr lIns="0" tIns="0" rIns="0" bIns="0" rtlCol="0" anchor="t">
            <a:spAutoFit/>
          </a:bodyPr>
          <a:lstStyle/>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Connue pour ses anneaux 💍</a:t>
            </a:r>
          </a:p>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Très belle</a:t>
            </a:r>
          </a:p>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Planète gazeuse</a:t>
            </a:r>
          </a:p>
        </p:txBody>
      </p:sp>
      <p:sp>
        <p:nvSpPr>
          <p:cNvPr id="6" name="TextBox 6"/>
          <p:cNvSpPr txBox="1"/>
          <p:nvPr/>
        </p:nvSpPr>
        <p:spPr>
          <a:xfrm>
            <a:off x="660139" y="8829675"/>
            <a:ext cx="16967722" cy="838200"/>
          </a:xfrm>
          <a:prstGeom prst="rect">
            <a:avLst/>
          </a:prstGeom>
        </p:spPr>
        <p:txBody>
          <a:bodyPr lIns="0" tIns="0" rIns="0" bIns="0" rtlCol="0" anchor="t">
            <a:spAutoFit/>
          </a:bodyPr>
          <a:lstStyle/>
          <a:p>
            <a:pPr marL="0" lvl="0" indent="0" algn="l">
              <a:lnSpc>
                <a:spcPts val="3240"/>
              </a:lnSpc>
              <a:spcBef>
                <a:spcPct val="0"/>
              </a:spcBef>
            </a:pPr>
            <a:r>
              <a:rPr lang="en-US" sz="2700" b="1" u="none" strike="noStrike" dirty="0">
                <a:solidFill>
                  <a:srgbClr val="FFFFFF"/>
                </a:solidFill>
                <a:latin typeface="Arimo Bold"/>
                <a:ea typeface="Arimo Bold"/>
                <a:cs typeface="Arimo Bold"/>
                <a:sym typeface="Arimo Bold"/>
              </a:rPr>
              <a:t>Saturne est la </a:t>
            </a:r>
            <a:r>
              <a:rPr lang="en-US" sz="2700" b="1" u="none" strike="noStrike" dirty="0" err="1">
                <a:solidFill>
                  <a:srgbClr val="FFFFFF"/>
                </a:solidFill>
                <a:latin typeface="Arimo Bold"/>
                <a:ea typeface="Arimo Bold"/>
                <a:cs typeface="Arimo Bold"/>
                <a:sym typeface="Arimo Bold"/>
              </a:rPr>
              <a:t>sixième</a:t>
            </a:r>
            <a:r>
              <a:rPr lang="en-US" sz="2700" b="1" u="none" strike="noStrike" dirty="0">
                <a:solidFill>
                  <a:srgbClr val="FFFFFF"/>
                </a:solidFill>
                <a:latin typeface="Arimo Bold"/>
                <a:ea typeface="Arimo Bold"/>
                <a:cs typeface="Arimo Bold"/>
                <a:sym typeface="Arimo Bold"/>
              </a:rPr>
              <a:t> </a:t>
            </a:r>
            <a:r>
              <a:rPr lang="en-US" sz="2700" b="1" u="none" strike="noStrike" dirty="0" err="1">
                <a:solidFill>
                  <a:srgbClr val="FFFFFF"/>
                </a:solidFill>
                <a:latin typeface="Arimo Bold"/>
                <a:ea typeface="Arimo Bold"/>
                <a:cs typeface="Arimo Bold"/>
                <a:sym typeface="Arimo Bold"/>
              </a:rPr>
              <a:t>planète</a:t>
            </a:r>
            <a:r>
              <a:rPr lang="en-US" sz="2700" b="1" u="none" strike="noStrike" dirty="0">
                <a:solidFill>
                  <a:srgbClr val="FFFFFF"/>
                </a:solidFill>
                <a:latin typeface="Arimo Bold"/>
                <a:ea typeface="Arimo Bold"/>
                <a:cs typeface="Arimo Bold"/>
                <a:sym typeface="Arimo Bold"/>
              </a:rPr>
              <a:t> à </a:t>
            </a:r>
            <a:r>
              <a:rPr lang="en-US" sz="2700" b="1" u="none" strike="noStrike" dirty="0" err="1">
                <a:solidFill>
                  <a:srgbClr val="FFFFFF"/>
                </a:solidFill>
                <a:latin typeface="Arimo Bold"/>
                <a:ea typeface="Arimo Bold"/>
                <a:cs typeface="Arimo Bold"/>
                <a:sym typeface="Arimo Bold"/>
              </a:rPr>
              <a:t>partir</a:t>
            </a:r>
            <a:r>
              <a:rPr lang="en-US" sz="2700" b="1" u="none" strike="noStrike" dirty="0">
                <a:solidFill>
                  <a:srgbClr val="FFFFFF"/>
                </a:solidFill>
                <a:latin typeface="Arimo Bold"/>
                <a:ea typeface="Arimo Bold"/>
                <a:cs typeface="Arimo Bold"/>
                <a:sym typeface="Arimo Bold"/>
              </a:rPr>
              <a:t> du Soleil et la deuxième plus grande du </a:t>
            </a:r>
            <a:r>
              <a:rPr lang="en-US" sz="2700" b="1" u="none" strike="noStrike" dirty="0" err="1">
                <a:solidFill>
                  <a:srgbClr val="FFFFFF"/>
                </a:solidFill>
                <a:latin typeface="Arimo Bold"/>
                <a:ea typeface="Arimo Bold"/>
                <a:cs typeface="Arimo Bold"/>
                <a:sym typeface="Arimo Bold"/>
              </a:rPr>
              <a:t>système</a:t>
            </a:r>
            <a:r>
              <a:rPr lang="en-US" sz="2700" b="1" u="none" strike="noStrike" dirty="0">
                <a:solidFill>
                  <a:srgbClr val="FFFFFF"/>
                </a:solidFill>
                <a:latin typeface="Arimo Bold"/>
                <a:ea typeface="Arimo Bold"/>
                <a:cs typeface="Arimo Bold"/>
                <a:sym typeface="Arimo Bold"/>
              </a:rPr>
              <a:t> </a:t>
            </a:r>
            <a:r>
              <a:rPr lang="en-US" sz="2700" b="1" u="none" strike="noStrike" dirty="0" err="1">
                <a:solidFill>
                  <a:srgbClr val="FFFFFF"/>
                </a:solidFill>
                <a:latin typeface="Arimo Bold"/>
                <a:ea typeface="Arimo Bold"/>
                <a:cs typeface="Arimo Bold"/>
                <a:sym typeface="Arimo Bold"/>
              </a:rPr>
              <a:t>solaire</a:t>
            </a:r>
            <a:r>
              <a:rPr lang="en-US" sz="2700" b="1" u="none" strike="noStrike" dirty="0">
                <a:solidFill>
                  <a:srgbClr val="FFFFFF"/>
                </a:solidFill>
                <a:latin typeface="Arimo Bold"/>
                <a:ea typeface="Arimo Bold"/>
                <a:cs typeface="Arimo Bold"/>
                <a:sym typeface="Arimo Bold"/>
              </a:rPr>
              <a:t>. Elle est </a:t>
            </a:r>
            <a:r>
              <a:rPr lang="en-US" sz="2700" b="1" u="none" strike="noStrike" dirty="0" err="1">
                <a:solidFill>
                  <a:srgbClr val="FFFFFF"/>
                </a:solidFill>
                <a:latin typeface="Arimo Bold"/>
                <a:ea typeface="Arimo Bold"/>
                <a:cs typeface="Arimo Bold"/>
                <a:sym typeface="Arimo Bold"/>
              </a:rPr>
              <a:t>entourée</a:t>
            </a:r>
            <a:r>
              <a:rPr lang="en-US" sz="2700" b="1" u="none" strike="noStrike" dirty="0">
                <a:solidFill>
                  <a:srgbClr val="FFFFFF"/>
                </a:solidFill>
                <a:latin typeface="Arimo Bold"/>
                <a:ea typeface="Arimo Bold"/>
                <a:cs typeface="Arimo Bold"/>
                <a:sym typeface="Arimo Bold"/>
              </a:rPr>
              <a:t> de </a:t>
            </a:r>
            <a:r>
              <a:rPr lang="en-US" sz="2700" b="1" u="none" strike="noStrike" dirty="0" err="1">
                <a:solidFill>
                  <a:srgbClr val="FFFFFF"/>
                </a:solidFill>
                <a:latin typeface="Arimo Bold"/>
                <a:ea typeface="Arimo Bold"/>
                <a:cs typeface="Arimo Bold"/>
                <a:sym typeface="Arimo Bold"/>
              </a:rPr>
              <a:t>magnifiques</a:t>
            </a:r>
            <a:r>
              <a:rPr lang="en-US" sz="2700" b="1" u="none" strike="noStrike" dirty="0">
                <a:solidFill>
                  <a:srgbClr val="FFFFFF"/>
                </a:solidFill>
                <a:latin typeface="Arimo Bold"/>
                <a:ea typeface="Arimo Bold"/>
                <a:cs typeface="Arimo Bold"/>
                <a:sym typeface="Arimo Bold"/>
              </a:rPr>
              <a:t> </a:t>
            </a:r>
            <a:r>
              <a:rPr lang="en-US" sz="2700" b="1" u="none" strike="noStrike" dirty="0" err="1">
                <a:solidFill>
                  <a:srgbClr val="FFFFFF"/>
                </a:solidFill>
                <a:latin typeface="Arimo Bold"/>
                <a:ea typeface="Arimo Bold"/>
                <a:cs typeface="Arimo Bold"/>
                <a:sym typeface="Arimo Bold"/>
              </a:rPr>
              <a:t>anneaux</a:t>
            </a:r>
            <a:r>
              <a:rPr lang="en-US" sz="2700" b="1" u="none" strike="noStrike" dirty="0">
                <a:solidFill>
                  <a:srgbClr val="FFFFFF"/>
                </a:solidFill>
                <a:latin typeface="Arimo Bold"/>
                <a:ea typeface="Arimo Bold"/>
                <a:cs typeface="Arimo Bold"/>
                <a:sym typeface="Arimo Bold"/>
              </a:rPr>
              <a:t>.</a:t>
            </a:r>
          </a:p>
        </p:txBody>
      </p:sp>
      <p:sp>
        <p:nvSpPr>
          <p:cNvPr id="7" name="TextBox 7"/>
          <p:cNvSpPr txBox="1"/>
          <p:nvPr/>
        </p:nvSpPr>
        <p:spPr>
          <a:xfrm>
            <a:off x="16661258" y="9658350"/>
            <a:ext cx="889620" cy="323850"/>
          </a:xfrm>
          <a:prstGeom prst="rect">
            <a:avLst/>
          </a:prstGeom>
        </p:spPr>
        <p:txBody>
          <a:bodyPr lIns="0" tIns="0" rIns="0" bIns="0" rtlCol="0" anchor="t">
            <a:spAutoFit/>
          </a:bodyPr>
          <a:lstStyle/>
          <a:p>
            <a:pPr marL="0" lvl="0" indent="0" algn="l">
              <a:lnSpc>
                <a:spcPts val="2520"/>
              </a:lnSpc>
              <a:spcBef>
                <a:spcPct val="0"/>
              </a:spcBef>
            </a:pPr>
            <a:r>
              <a:rPr lang="en-US" sz="2100" u="sng" strike="noStrike">
                <a:solidFill>
                  <a:srgbClr val="83F6FF"/>
                </a:solidFill>
                <a:latin typeface="Arimo"/>
                <a:ea typeface="Arimo"/>
                <a:cs typeface="Arimo"/>
                <a:sym typeface="Arimo"/>
              </a:rPr>
              <a:t>saturne</a:t>
            </a: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4232" b="-14232"/>
            </a:stretch>
          </a:blipFill>
        </p:spPr>
        <p:txBody>
          <a:bodyPr/>
          <a:lstStyle/>
          <a:p>
            <a:endParaRPr lang="fr-MA"/>
          </a:p>
        </p:txBody>
      </p:sp>
      <p:pic>
        <p:nvPicPr>
          <p:cNvPr id="3" name="Picture 3"/>
          <p:cNvPicPr>
            <a:picLocks noChangeAspect="1"/>
          </p:cNvPicPr>
          <p:nvPr/>
        </p:nvPicPr>
        <p:blipFill>
          <a:blip r:embed="rId3"/>
          <a:stretch>
            <a:fillRect/>
          </a:stretch>
        </p:blipFill>
        <p:spPr>
          <a:xfrm>
            <a:off x="1534569" y="3703641"/>
            <a:ext cx="2864855" cy="2871224"/>
          </a:xfrm>
          <a:prstGeom prst="rect">
            <a:avLst/>
          </a:prstGeom>
        </p:spPr>
      </p:pic>
      <p:sp>
        <p:nvSpPr>
          <p:cNvPr id="4" name="TextBox 4"/>
          <p:cNvSpPr txBox="1"/>
          <p:nvPr/>
        </p:nvSpPr>
        <p:spPr>
          <a:xfrm>
            <a:off x="8076754" y="647700"/>
            <a:ext cx="2134493" cy="742950"/>
          </a:xfrm>
          <a:prstGeom prst="rect">
            <a:avLst/>
          </a:prstGeom>
        </p:spPr>
        <p:txBody>
          <a:bodyPr lIns="0" tIns="0" rIns="0" bIns="0" rtlCol="0" anchor="t">
            <a:spAutoFit/>
          </a:bodyPr>
          <a:lstStyle/>
          <a:p>
            <a:pPr marL="0" lvl="0" indent="0" algn="ctr">
              <a:lnSpc>
                <a:spcPts val="5759"/>
              </a:lnSpc>
              <a:spcBef>
                <a:spcPct val="0"/>
              </a:spcBef>
            </a:pPr>
            <a:r>
              <a:rPr lang="en-US" sz="4800" u="none" strike="noStrike">
                <a:solidFill>
                  <a:srgbClr val="FFFFFF"/>
                </a:solidFill>
                <a:latin typeface="Arimo"/>
                <a:ea typeface="Arimo"/>
                <a:cs typeface="Arimo"/>
                <a:sym typeface="Arimo"/>
              </a:rPr>
              <a:t> Uranus</a:t>
            </a:r>
          </a:p>
        </p:txBody>
      </p:sp>
      <p:sp>
        <p:nvSpPr>
          <p:cNvPr id="5" name="TextBox 5"/>
          <p:cNvSpPr txBox="1"/>
          <p:nvPr/>
        </p:nvSpPr>
        <p:spPr>
          <a:xfrm>
            <a:off x="15438167" y="2474260"/>
            <a:ext cx="2253555" cy="952500"/>
          </a:xfrm>
          <a:prstGeom prst="rect">
            <a:avLst/>
          </a:prstGeom>
        </p:spPr>
        <p:txBody>
          <a:bodyPr lIns="0" tIns="0" rIns="0" bIns="0" rtlCol="0" anchor="t">
            <a:spAutoFit/>
          </a:bodyPr>
          <a:lstStyle/>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Très froide ❄️</a:t>
            </a:r>
          </a:p>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Elle tourne inclinée</a:t>
            </a:r>
          </a:p>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Couleur bleu-vert</a:t>
            </a:r>
          </a:p>
        </p:txBody>
      </p:sp>
      <p:sp>
        <p:nvSpPr>
          <p:cNvPr id="6" name="TextBox 6"/>
          <p:cNvSpPr txBox="1"/>
          <p:nvPr/>
        </p:nvSpPr>
        <p:spPr>
          <a:xfrm>
            <a:off x="1095859" y="8624888"/>
            <a:ext cx="16163441" cy="2072362"/>
          </a:xfrm>
          <a:prstGeom prst="rect">
            <a:avLst/>
          </a:prstGeom>
        </p:spPr>
        <p:txBody>
          <a:bodyPr lIns="0" tIns="0" rIns="0" bIns="0" rtlCol="0" anchor="t">
            <a:spAutoFit/>
          </a:bodyPr>
          <a:lstStyle/>
          <a:p>
            <a:r>
              <a:rPr lang="fr-FR" sz="2700" b="1" dirty="0">
                <a:solidFill>
                  <a:srgbClr val="FFFFFF"/>
                </a:solidFill>
                <a:latin typeface="Arimo Bold"/>
                <a:ea typeface="Arimo Bold"/>
                <a:cs typeface="Arimo Bold"/>
              </a:rPr>
              <a:t>Uranus</a:t>
            </a:r>
            <a:r>
              <a:rPr lang="fr-FR" dirty="0"/>
              <a:t> </a:t>
            </a:r>
            <a:r>
              <a:rPr lang="fr-FR" sz="2700" b="1" dirty="0">
                <a:solidFill>
                  <a:srgbClr val="FFFFFF"/>
                </a:solidFill>
                <a:latin typeface="Arimo Bold"/>
                <a:ea typeface="Arimo Bold"/>
                <a:cs typeface="Arimo Bold"/>
              </a:rPr>
              <a:t>est la septième planète du Système solaire et la troisième plus grande planète de notre système solaire. Elle semble tourner sur elle-même.</a:t>
            </a:r>
          </a:p>
          <a:p>
            <a:br>
              <a:rPr lang="fr-FR" sz="2700" b="1" dirty="0">
                <a:solidFill>
                  <a:srgbClr val="FFFFFF"/>
                </a:solidFill>
                <a:latin typeface="Arimo Bold"/>
                <a:ea typeface="Arimo Bold"/>
                <a:cs typeface="Arimo Bold"/>
              </a:rPr>
            </a:br>
            <a:endParaRPr lang="en-US" sz="2700" b="1" dirty="0">
              <a:solidFill>
                <a:srgbClr val="FFFFFF"/>
              </a:solidFill>
              <a:latin typeface="Arimo Bold"/>
              <a:ea typeface="Arimo Bold"/>
              <a:cs typeface="Arimo Bold"/>
              <a:sym typeface="Arimo Bold"/>
            </a:endParaRPr>
          </a:p>
          <a:p>
            <a:pPr marL="0" lvl="0" indent="0" algn="l">
              <a:lnSpc>
                <a:spcPts val="3240"/>
              </a:lnSpc>
              <a:spcBef>
                <a:spcPct val="0"/>
              </a:spcBef>
            </a:pPr>
            <a:endParaRPr lang="en-US" sz="2700" b="1" u="none" strike="noStrike" dirty="0">
              <a:solidFill>
                <a:srgbClr val="FFFFFF"/>
              </a:solidFill>
              <a:latin typeface="Arimo Bold"/>
              <a:ea typeface="Arimo Bold"/>
              <a:cs typeface="Arimo Bold"/>
              <a:sym typeface="Arimo Bold"/>
            </a:endParaRPr>
          </a:p>
        </p:txBody>
      </p:sp>
      <p:sp>
        <p:nvSpPr>
          <p:cNvPr id="7" name="TextBox 7"/>
          <p:cNvSpPr txBox="1"/>
          <p:nvPr/>
        </p:nvSpPr>
        <p:spPr>
          <a:xfrm>
            <a:off x="16851548" y="9705975"/>
            <a:ext cx="815504" cy="323850"/>
          </a:xfrm>
          <a:prstGeom prst="rect">
            <a:avLst/>
          </a:prstGeom>
        </p:spPr>
        <p:txBody>
          <a:bodyPr lIns="0" tIns="0" rIns="0" bIns="0" rtlCol="0" anchor="t">
            <a:spAutoFit/>
          </a:bodyPr>
          <a:lstStyle/>
          <a:p>
            <a:pPr marL="0" lvl="0" indent="0" algn="l">
              <a:lnSpc>
                <a:spcPts val="2520"/>
              </a:lnSpc>
              <a:spcBef>
                <a:spcPct val="0"/>
              </a:spcBef>
            </a:pPr>
            <a:r>
              <a:rPr lang="en-US" sz="2100" u="sng" strike="noStrike">
                <a:solidFill>
                  <a:srgbClr val="83F6FF"/>
                </a:solidFill>
                <a:latin typeface="Arimo"/>
                <a:ea typeface="Arimo"/>
                <a:cs typeface="Arimo"/>
                <a:sym typeface="Arimo"/>
              </a:rPr>
              <a:t>uranus</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MA"/>
          </a:p>
        </p:txBody>
      </p:sp>
      <p:pic>
        <p:nvPicPr>
          <p:cNvPr id="3" name="Picture 3"/>
          <p:cNvPicPr>
            <a:picLocks noChangeAspect="1"/>
          </p:cNvPicPr>
          <p:nvPr/>
        </p:nvPicPr>
        <p:blipFill>
          <a:blip r:embed="rId3"/>
          <a:stretch>
            <a:fillRect/>
          </a:stretch>
        </p:blipFill>
        <p:spPr>
          <a:xfrm>
            <a:off x="796713" y="3474125"/>
            <a:ext cx="2775617" cy="2783844"/>
          </a:xfrm>
          <a:prstGeom prst="rect">
            <a:avLst/>
          </a:prstGeom>
        </p:spPr>
      </p:pic>
      <p:sp>
        <p:nvSpPr>
          <p:cNvPr id="4" name="TextBox 4"/>
          <p:cNvSpPr txBox="1"/>
          <p:nvPr/>
        </p:nvSpPr>
        <p:spPr>
          <a:xfrm>
            <a:off x="7991759" y="735650"/>
            <a:ext cx="2304481" cy="749717"/>
          </a:xfrm>
          <a:prstGeom prst="rect">
            <a:avLst/>
          </a:prstGeom>
        </p:spPr>
        <p:txBody>
          <a:bodyPr lIns="0" tIns="0" rIns="0" bIns="0" rtlCol="0" anchor="t">
            <a:spAutoFit/>
          </a:bodyPr>
          <a:lstStyle/>
          <a:p>
            <a:pPr marL="0" lvl="0" indent="0" algn="ctr">
              <a:lnSpc>
                <a:spcPts val="5760"/>
              </a:lnSpc>
              <a:spcBef>
                <a:spcPct val="0"/>
              </a:spcBef>
            </a:pPr>
            <a:r>
              <a:rPr lang="en-US" sz="4800" u="none" strike="noStrike">
                <a:solidFill>
                  <a:srgbClr val="FFFFFF"/>
                </a:solidFill>
                <a:latin typeface="Arimo"/>
                <a:ea typeface="Arimo"/>
                <a:cs typeface="Arimo"/>
                <a:sym typeface="Arimo"/>
              </a:rPr>
              <a:t>Neptune</a:t>
            </a:r>
          </a:p>
        </p:txBody>
      </p:sp>
      <p:sp>
        <p:nvSpPr>
          <p:cNvPr id="5" name="TextBox 5"/>
          <p:cNvSpPr txBox="1"/>
          <p:nvPr/>
        </p:nvSpPr>
        <p:spPr>
          <a:xfrm>
            <a:off x="15530228" y="2537687"/>
            <a:ext cx="1942579" cy="952500"/>
          </a:xfrm>
          <a:prstGeom prst="rect">
            <a:avLst/>
          </a:prstGeom>
        </p:spPr>
        <p:txBody>
          <a:bodyPr lIns="0" tIns="0" rIns="0" bIns="0" rtlCol="0" anchor="t">
            <a:spAutoFit/>
          </a:bodyPr>
          <a:lstStyle/>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La plus éloignée</a:t>
            </a:r>
          </a:p>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Vents très forts</a:t>
            </a:r>
          </a:p>
          <a:p>
            <a:pPr marL="0" lvl="0" indent="0" algn="ctr">
              <a:lnSpc>
                <a:spcPts val="2520"/>
              </a:lnSpc>
              <a:spcBef>
                <a:spcPct val="0"/>
              </a:spcBef>
            </a:pPr>
            <a:r>
              <a:rPr lang="en-US" sz="2100" u="none" strike="noStrike">
                <a:gradFill>
                  <a:gsLst>
                    <a:gs pos="15000">
                      <a:srgbClr val="7425E3">
                        <a:alpha val="100000"/>
                      </a:srgbClr>
                    </a:gs>
                    <a:gs pos="50000">
                      <a:srgbClr val="1FB1FF">
                        <a:alpha val="100000"/>
                      </a:srgbClr>
                    </a:gs>
                    <a:gs pos="85000">
                      <a:srgbClr val="64FE3E">
                        <a:alpha val="100000"/>
                      </a:srgbClr>
                    </a:gs>
                  </a:gsLst>
                  <a:lin ang="18900000"/>
                </a:gradFill>
                <a:latin typeface="Arimo"/>
                <a:ea typeface="Arimo"/>
                <a:cs typeface="Arimo"/>
                <a:sym typeface="Arimo"/>
              </a:rPr>
              <a:t>Couleur bleue</a:t>
            </a:r>
          </a:p>
        </p:txBody>
      </p:sp>
      <p:sp>
        <p:nvSpPr>
          <p:cNvPr id="6" name="TextBox 6"/>
          <p:cNvSpPr txBox="1"/>
          <p:nvPr/>
        </p:nvSpPr>
        <p:spPr>
          <a:xfrm>
            <a:off x="1028700" y="8924925"/>
            <a:ext cx="17259300" cy="838200"/>
          </a:xfrm>
          <a:prstGeom prst="rect">
            <a:avLst/>
          </a:prstGeom>
        </p:spPr>
        <p:txBody>
          <a:bodyPr lIns="0" tIns="0" rIns="0" bIns="0" rtlCol="0" anchor="t">
            <a:spAutoFit/>
          </a:bodyPr>
          <a:lstStyle/>
          <a:p>
            <a:pPr marL="0" lvl="0" indent="0" algn="l">
              <a:lnSpc>
                <a:spcPts val="3240"/>
              </a:lnSpc>
              <a:spcBef>
                <a:spcPct val="0"/>
              </a:spcBef>
            </a:pPr>
            <a:r>
              <a:rPr lang="en-US" sz="2700" b="1" u="none" strike="noStrike">
                <a:solidFill>
                  <a:srgbClr val="FFFFFF"/>
                </a:solidFill>
                <a:latin typeface="Arimo Bold"/>
                <a:ea typeface="Arimo Bold"/>
                <a:cs typeface="Arimo Bold"/>
                <a:sym typeface="Arimo Bold"/>
              </a:rPr>
              <a:t>Neptune est la huitième planète du système solaire, et la plus éloignée. C'est la quatrième plus grande, et la première planète découverte grâce aux mathématiques.</a:t>
            </a:r>
          </a:p>
        </p:txBody>
      </p:sp>
      <p:sp>
        <p:nvSpPr>
          <p:cNvPr id="7" name="TextBox 7"/>
          <p:cNvSpPr txBox="1"/>
          <p:nvPr/>
        </p:nvSpPr>
        <p:spPr>
          <a:xfrm>
            <a:off x="16968615" y="9596437"/>
            <a:ext cx="1008385" cy="323850"/>
          </a:xfrm>
          <a:prstGeom prst="rect">
            <a:avLst/>
          </a:prstGeom>
        </p:spPr>
        <p:txBody>
          <a:bodyPr lIns="0" tIns="0" rIns="0" bIns="0" rtlCol="0" anchor="t">
            <a:spAutoFit/>
          </a:bodyPr>
          <a:lstStyle/>
          <a:p>
            <a:pPr marL="0" lvl="0" indent="0" algn="l">
              <a:lnSpc>
                <a:spcPts val="2520"/>
              </a:lnSpc>
              <a:spcBef>
                <a:spcPct val="0"/>
              </a:spcBef>
            </a:pPr>
            <a:r>
              <a:rPr lang="en-US" sz="2100" u="sng" strike="noStrike">
                <a:solidFill>
                  <a:srgbClr val="83F6FF"/>
                </a:solidFill>
                <a:latin typeface="Arimo"/>
                <a:ea typeface="Arimo"/>
                <a:cs typeface="Arimo"/>
                <a:sym typeface="Arimo"/>
                <a:hlinkClick r:id="rId4" tooltip="https://science.nasa.gov/neptune/"/>
              </a:rPr>
              <a:t>Neptune</a:t>
            </a:r>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15000">
              <a:srgbClr val="F95BF6">
                <a:alpha val="100000"/>
              </a:srgbClr>
            </a:gs>
            <a:gs pos="50000">
              <a:srgbClr val="532CF9">
                <a:alpha val="100000"/>
              </a:srgbClr>
            </a:gs>
            <a:gs pos="85000">
              <a:srgbClr val="03F7EB">
                <a:alpha val="100000"/>
              </a:srgbClr>
            </a:gs>
          </a:gsLst>
          <a:lin ang="18900000"/>
        </a:gradFill>
        <a:effectLst/>
      </p:bgPr>
    </p:bg>
    <p:spTree>
      <p:nvGrpSpPr>
        <p:cNvPr id="1" name=""/>
        <p:cNvGrpSpPr/>
        <p:nvPr/>
      </p:nvGrpSpPr>
      <p:grpSpPr>
        <a:xfrm>
          <a:off x="0" y="0"/>
          <a:ext cx="0" cy="0"/>
          <a:chOff x="0" y="0"/>
          <a:chExt cx="0" cy="0"/>
        </a:xfrm>
      </p:grpSpPr>
      <p:sp>
        <p:nvSpPr>
          <p:cNvPr id="2" name="Freeform 2">
            <a:hlinkClick r:id="rId2" tooltip="http://127.0.0.1:5500"/>
          </p:cNvPr>
          <p:cNvSpPr/>
          <p:nvPr/>
        </p:nvSpPr>
        <p:spPr>
          <a:xfrm>
            <a:off x="1680745" y="4686300"/>
            <a:ext cx="6820405" cy="3624225"/>
          </a:xfrm>
          <a:custGeom>
            <a:avLst/>
            <a:gdLst/>
            <a:ahLst/>
            <a:cxnLst/>
            <a:rect l="l" t="t" r="r" b="b"/>
            <a:pathLst>
              <a:path w="6820405" h="3624225">
                <a:moveTo>
                  <a:pt x="0" y="0"/>
                </a:moveTo>
                <a:lnTo>
                  <a:pt x="6820405" y="0"/>
                </a:lnTo>
                <a:lnTo>
                  <a:pt x="6820405" y="3624225"/>
                </a:lnTo>
                <a:lnTo>
                  <a:pt x="0" y="3624225"/>
                </a:lnTo>
                <a:lnTo>
                  <a:pt x="0" y="0"/>
                </a:lnTo>
                <a:close/>
              </a:path>
            </a:pathLst>
          </a:custGeom>
          <a:blipFill>
            <a:blip r:embed="rId3"/>
            <a:stretch>
              <a:fillRect l="-7152" t="-50824" b="-50824"/>
            </a:stretch>
          </a:blipFill>
        </p:spPr>
        <p:txBody>
          <a:bodyPr/>
          <a:lstStyle/>
          <a:p>
            <a:endParaRPr lang="fr-MA"/>
          </a:p>
        </p:txBody>
      </p:sp>
      <p:sp>
        <p:nvSpPr>
          <p:cNvPr id="3" name="TextBox 3"/>
          <p:cNvSpPr txBox="1"/>
          <p:nvPr/>
        </p:nvSpPr>
        <p:spPr>
          <a:xfrm>
            <a:off x="5090948" y="3216728"/>
            <a:ext cx="7660336" cy="815397"/>
          </a:xfrm>
          <a:prstGeom prst="rect">
            <a:avLst/>
          </a:prstGeom>
        </p:spPr>
        <p:txBody>
          <a:bodyPr lIns="0" tIns="0" rIns="0" bIns="0" rtlCol="0" anchor="t">
            <a:spAutoFit/>
          </a:bodyPr>
          <a:lstStyle/>
          <a:p>
            <a:pPr algn="ctr">
              <a:lnSpc>
                <a:spcPts val="6308"/>
              </a:lnSpc>
              <a:spcBef>
                <a:spcPct val="0"/>
              </a:spcBef>
            </a:pPr>
            <a:r>
              <a:rPr lang="en-US" sz="5256" dirty="0">
                <a:gradFill>
                  <a:gsLst>
                    <a:gs pos="0">
                      <a:srgbClr val="0097B2">
                        <a:alpha val="100000"/>
                      </a:srgbClr>
                    </a:gs>
                    <a:gs pos="100000">
                      <a:srgbClr val="7ED957">
                        <a:alpha val="100000"/>
                      </a:srgbClr>
                    </a:gs>
                  </a:gsLst>
                  <a:lin ang="0"/>
                </a:gradFill>
                <a:latin typeface="Arimo"/>
                <a:ea typeface="Arimo"/>
                <a:cs typeface="Arimo"/>
                <a:sym typeface="Arimo"/>
              </a:rPr>
              <a:t>Mon site web sur Espace</a:t>
            </a:r>
          </a:p>
        </p:txBody>
      </p:sp>
      <p:pic>
        <p:nvPicPr>
          <p:cNvPr id="7" name="Image 6">
            <a:hlinkClick r:id="rId4"/>
            <a:extLst>
              <a:ext uri="{FF2B5EF4-FFF2-40B4-BE49-F238E27FC236}">
                <a16:creationId xmlns:a16="http://schemas.microsoft.com/office/drawing/2014/main" id="{0ABAF59A-D929-9D1D-52DF-C35F4CE2B9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05800" y="3816476"/>
            <a:ext cx="4876800" cy="4876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635</Words>
  <Application>Microsoft Office PowerPoint</Application>
  <PresentationFormat>Personnalisé</PresentationFormat>
  <Paragraphs>67</Paragraphs>
  <Slides>12</Slides>
  <Notes>1</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12</vt:i4>
      </vt:variant>
    </vt:vector>
  </HeadingPairs>
  <TitlesOfParts>
    <vt:vector size="20" baseType="lpstr">
      <vt:lpstr>Arial</vt:lpstr>
      <vt:lpstr>Segoe Script</vt:lpstr>
      <vt:lpstr>Aptos</vt:lpstr>
      <vt:lpstr>Baskerville Old Face</vt:lpstr>
      <vt:lpstr>Arimo</vt:lpstr>
      <vt:lpstr>Arimo Bold</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Présentation1.pptx</dc:title>
  <cp:lastModifiedBy>AHMED.IDADDI</cp:lastModifiedBy>
  <cp:revision>4</cp:revision>
  <dcterms:created xsi:type="dcterms:W3CDTF">2006-08-16T00:00:00Z</dcterms:created>
  <dcterms:modified xsi:type="dcterms:W3CDTF">2026-04-13T18:52:12Z</dcterms:modified>
  <dc:identifier>DAHGqS966Us</dc:identifier>
</cp:coreProperties>
</file>